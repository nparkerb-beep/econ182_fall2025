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PT Sans Narrow"/>
      <p:regular r:id="rId15"/>
      <p:bold r:id="rId16"/>
    </p:embeddedFont>
    <p:embeddedFont>
      <p:font typeface="Open Sans"/>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OpenSans-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PTSansNarrow-regular.fntdata"/><Relationship Id="rId14" Type="http://schemas.openxmlformats.org/officeDocument/2006/relationships/slide" Target="slides/slide9.xml"/><Relationship Id="rId17" Type="http://schemas.openxmlformats.org/officeDocument/2006/relationships/font" Target="fonts/OpenSans-regular.fntdata"/><Relationship Id="rId16" Type="http://schemas.openxmlformats.org/officeDocument/2006/relationships/font" Target="fonts/PTSansNarrow-bold.fntdata"/><Relationship Id="rId5" Type="http://schemas.openxmlformats.org/officeDocument/2006/relationships/notesMaster" Target="notesMasters/notesMaster1.xml"/><Relationship Id="rId19" Type="http://schemas.openxmlformats.org/officeDocument/2006/relationships/font" Target="fonts/OpenSans-italic.fntdata"/><Relationship Id="rId6" Type="http://schemas.openxmlformats.org/officeDocument/2006/relationships/slide" Target="slides/slide1.xml"/><Relationship Id="rId18" Type="http://schemas.openxmlformats.org/officeDocument/2006/relationships/font" Target="fonts/OpenSans-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99c6cde070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99c6cde070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99c6cde070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99c6cde070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99c6cde070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99c6cde070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99c6cde070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99c6cde070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99c6cde070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99c6cde070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99c6cde070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99c6cde070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99c6cde070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99c6cde070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99c6cde070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99c6cde070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cxnSp>
        <p:nvCxnSpPr>
          <p:cNvPr id="10" name="Google Shape;10;p2"/>
          <p:cNvCxnSpPr/>
          <p:nvPr/>
        </p:nvCxnSpPr>
        <p:spPr>
          <a:xfrm>
            <a:off x="7007735" y="3176888"/>
            <a:ext cx="562200" cy="0"/>
          </a:xfrm>
          <a:prstGeom prst="straightConnector1">
            <a:avLst/>
          </a:prstGeom>
          <a:noFill/>
          <a:ln cap="flat" cmpd="sng" w="76200">
            <a:solidFill>
              <a:schemeClr val="lt2"/>
            </a:solidFill>
            <a:prstDash val="solid"/>
            <a:round/>
            <a:headEnd len="sm" w="sm" type="none"/>
            <a:tailEnd len="sm" w="sm" type="none"/>
          </a:ln>
        </p:spPr>
      </p:cxnSp>
      <p:cxnSp>
        <p:nvCxnSpPr>
          <p:cNvPr id="11" name="Google Shape;11;p2"/>
          <p:cNvCxnSpPr/>
          <p:nvPr/>
        </p:nvCxnSpPr>
        <p:spPr>
          <a:xfrm>
            <a:off x="1575035" y="3158252"/>
            <a:ext cx="562200" cy="0"/>
          </a:xfrm>
          <a:prstGeom prst="straightConnector1">
            <a:avLst/>
          </a:prstGeom>
          <a:noFill/>
          <a:ln cap="flat" cmpd="sng" w="76200">
            <a:solidFill>
              <a:schemeClr val="lt2"/>
            </a:solidFill>
            <a:prstDash val="solid"/>
            <a:round/>
            <a:headEnd len="sm" w="sm" type="none"/>
            <a:tailEnd len="sm" w="sm" type="none"/>
          </a:ln>
        </p:spPr>
      </p:cxnSp>
      <p:grpSp>
        <p:nvGrpSpPr>
          <p:cNvPr id="12" name="Google Shape;12;p2"/>
          <p:cNvGrpSpPr/>
          <p:nvPr/>
        </p:nvGrpSpPr>
        <p:grpSpPr>
          <a:xfrm>
            <a:off x="1004144" y="1022025"/>
            <a:ext cx="7136668" cy="152400"/>
            <a:chOff x="1346429" y="1011300"/>
            <a:chExt cx="6452100" cy="152400"/>
          </a:xfrm>
        </p:grpSpPr>
        <p:cxnSp>
          <p:nvCxnSpPr>
            <p:cNvPr id="13" name="Google Shape;13;p2"/>
            <p:cNvCxnSpPr/>
            <p:nvPr/>
          </p:nvCxnSpPr>
          <p:spPr>
            <a:xfrm rot="10800000">
              <a:off x="1346429" y="1011300"/>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4" name="Google Shape;14;p2"/>
            <p:cNvCxnSpPr/>
            <p:nvPr/>
          </p:nvCxnSpPr>
          <p:spPr>
            <a:xfrm rot="10800000">
              <a:off x="1346429" y="1163700"/>
              <a:ext cx="6452100" cy="0"/>
            </a:xfrm>
            <a:prstGeom prst="straightConnector1">
              <a:avLst/>
            </a:prstGeom>
            <a:noFill/>
            <a:ln cap="flat" cmpd="sng" w="9525">
              <a:solidFill>
                <a:schemeClr val="accent3"/>
              </a:solidFill>
              <a:prstDash val="solid"/>
              <a:round/>
              <a:headEnd len="sm" w="sm" type="none"/>
              <a:tailEnd len="sm" w="sm" type="none"/>
            </a:ln>
          </p:spPr>
        </p:cxnSp>
      </p:grpSp>
      <p:grpSp>
        <p:nvGrpSpPr>
          <p:cNvPr id="15" name="Google Shape;15;p2"/>
          <p:cNvGrpSpPr/>
          <p:nvPr/>
        </p:nvGrpSpPr>
        <p:grpSpPr>
          <a:xfrm>
            <a:off x="1004151" y="3969100"/>
            <a:ext cx="7136668" cy="152400"/>
            <a:chOff x="1346435" y="3969088"/>
            <a:chExt cx="6452100" cy="152400"/>
          </a:xfrm>
        </p:grpSpPr>
        <p:cxnSp>
          <p:nvCxnSpPr>
            <p:cNvPr id="16" name="Google Shape;16;p2"/>
            <p:cNvCxnSpPr/>
            <p:nvPr/>
          </p:nvCxnSpPr>
          <p:spPr>
            <a:xfrm>
              <a:off x="1346435" y="4121488"/>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7" name="Google Shape;17;p2"/>
            <p:cNvCxnSpPr/>
            <p:nvPr/>
          </p:nvCxnSpPr>
          <p:spPr>
            <a:xfrm>
              <a:off x="1346435" y="3969088"/>
              <a:ext cx="6452100" cy="0"/>
            </a:xfrm>
            <a:prstGeom prst="straightConnector1">
              <a:avLst/>
            </a:prstGeom>
            <a:noFill/>
            <a:ln cap="flat" cmpd="sng" w="9525">
              <a:solidFill>
                <a:schemeClr val="accent3"/>
              </a:solidFill>
              <a:prstDash val="solid"/>
              <a:round/>
              <a:headEnd len="sm" w="sm" type="none"/>
              <a:tailEnd len="sm" w="sm" type="none"/>
            </a:ln>
          </p:spPr>
        </p:cxnSp>
      </p:grpSp>
      <p:sp>
        <p:nvSpPr>
          <p:cNvPr id="18" name="Google Shape;18;p2"/>
          <p:cNvSpPr txBox="1"/>
          <p:nvPr>
            <p:ph type="ctrTitle"/>
          </p:nvPr>
        </p:nvSpPr>
        <p:spPr>
          <a:xfrm>
            <a:off x="1004150" y="1751764"/>
            <a:ext cx="7136700" cy="10224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19" name="Google Shape;19;p2"/>
          <p:cNvSpPr txBox="1"/>
          <p:nvPr>
            <p:ph idx="1" type="subTitle"/>
          </p:nvPr>
        </p:nvSpPr>
        <p:spPr>
          <a:xfrm>
            <a:off x="2137225" y="2850039"/>
            <a:ext cx="4870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0" name="Google Shape;20;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3"/>
          <p:cNvSpPr/>
          <p:nvPr/>
        </p:nvSpPr>
        <p:spPr>
          <a:xfrm>
            <a:off x="-50" y="2571900"/>
            <a:ext cx="9144000" cy="2571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txBox="1"/>
          <p:nvPr>
            <p:ph type="title"/>
          </p:nvPr>
        </p:nvSpPr>
        <p:spPr>
          <a:xfrm>
            <a:off x="311700" y="814800"/>
            <a:ext cx="8571300" cy="942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a:lvl1pPr>
            <a:lvl2pPr lvl="1" algn="ctr">
              <a:spcBef>
                <a:spcPts val="0"/>
              </a:spcBef>
              <a:spcAft>
                <a:spcPts val="0"/>
              </a:spcAft>
              <a:buSzPts val="3600"/>
              <a:buNone/>
              <a:defRPr/>
            </a:lvl2pPr>
            <a:lvl3pPr lvl="2" algn="ctr">
              <a:spcBef>
                <a:spcPts val="0"/>
              </a:spcBef>
              <a:spcAft>
                <a:spcPts val="0"/>
              </a:spcAft>
              <a:buSzPts val="3600"/>
              <a:buNone/>
              <a:defRPr/>
            </a:lvl3pPr>
            <a:lvl4pPr lvl="3" algn="ctr">
              <a:spcBef>
                <a:spcPts val="0"/>
              </a:spcBef>
              <a:spcAft>
                <a:spcPts val="0"/>
              </a:spcAft>
              <a:buSzPts val="3600"/>
              <a:buNone/>
              <a:defRPr/>
            </a:lvl4pPr>
            <a:lvl5pPr lvl="4" algn="ctr">
              <a:spcBef>
                <a:spcPts val="0"/>
              </a:spcBef>
              <a:spcAft>
                <a:spcPts val="0"/>
              </a:spcAft>
              <a:buSzPts val="3600"/>
              <a:buNone/>
              <a:defRPr/>
            </a:lvl5pPr>
            <a:lvl6pPr lvl="5" algn="ctr">
              <a:spcBef>
                <a:spcPts val="0"/>
              </a:spcBef>
              <a:spcAft>
                <a:spcPts val="0"/>
              </a:spcAft>
              <a:buSzPts val="3600"/>
              <a:buNone/>
              <a:defRPr/>
            </a:lvl6pPr>
            <a:lvl7pPr lvl="6" algn="ctr">
              <a:spcBef>
                <a:spcPts val="0"/>
              </a:spcBef>
              <a:spcAft>
                <a:spcPts val="0"/>
              </a:spcAft>
              <a:buSzPts val="3600"/>
              <a:buNone/>
              <a:defRPr/>
            </a:lvl7pPr>
            <a:lvl8pPr lvl="7" algn="ctr">
              <a:spcBef>
                <a:spcPts val="0"/>
              </a:spcBef>
              <a:spcAft>
                <a:spcPts val="0"/>
              </a:spcAft>
              <a:buSzPts val="3600"/>
              <a:buNone/>
              <a:defRPr/>
            </a:lvl8pPr>
            <a:lvl9pPr lvl="8" algn="ctr">
              <a:spcBef>
                <a:spcPts val="0"/>
              </a:spcBef>
              <a:spcAft>
                <a:spcPts val="0"/>
              </a:spcAft>
              <a:buSzPts val="3600"/>
              <a:buNone/>
              <a:defRPr/>
            </a:lvl9pPr>
          </a:lstStyle>
          <a:p/>
        </p:txBody>
      </p:sp>
      <p:sp>
        <p:nvSpPr>
          <p:cNvPr id="24" name="Google Shape;24;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5" name="Shape 25"/>
        <p:cNvGrpSpPr/>
        <p:nvPr/>
      </p:nvGrpSpPr>
      <p:grpSpPr>
        <a:xfrm>
          <a:off x="0" y="0"/>
          <a:ext cx="0" cy="0"/>
          <a:chOff x="0" y="0"/>
          <a:chExt cx="0" cy="0"/>
        </a:xfrm>
      </p:grpSpPr>
      <p:sp>
        <p:nvSpPr>
          <p:cNvPr id="26" name="Google Shape;26;p4"/>
          <p:cNvSpPr/>
          <p:nvPr/>
        </p:nvSpPr>
        <p:spPr>
          <a:xfrm>
            <a:off x="-75" y="5045700"/>
            <a:ext cx="9144000" cy="978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28" name="Google Shape;28;p4"/>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9" name="Google Shape;2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5"/>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32" name="Google Shape;32;p5"/>
          <p:cNvSpPr txBox="1"/>
          <p:nvPr>
            <p:ph idx="1" type="body"/>
          </p:nvPr>
        </p:nvSpPr>
        <p:spPr>
          <a:xfrm>
            <a:off x="311700" y="1266175"/>
            <a:ext cx="3999900" cy="330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5"/>
          <p:cNvSpPr txBox="1"/>
          <p:nvPr>
            <p:ph idx="2" type="body"/>
          </p:nvPr>
        </p:nvSpPr>
        <p:spPr>
          <a:xfrm>
            <a:off x="4832400" y="1266175"/>
            <a:ext cx="3999900" cy="330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6"/>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37" name="Google Shape;3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8" name="Shape 38"/>
        <p:cNvGrpSpPr/>
        <p:nvPr/>
      </p:nvGrpSpPr>
      <p:grpSpPr>
        <a:xfrm>
          <a:off x="0" y="0"/>
          <a:ext cx="0" cy="0"/>
          <a:chOff x="0" y="0"/>
          <a:chExt cx="0" cy="0"/>
        </a:xfrm>
      </p:grpSpPr>
      <p:sp>
        <p:nvSpPr>
          <p:cNvPr id="39" name="Google Shape;3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 name="Google Shape;4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6"/>
        </a:solidFill>
      </p:bgPr>
    </p:bg>
    <p:spTree>
      <p:nvGrpSpPr>
        <p:cNvPr id="42" name="Shape 42"/>
        <p:cNvGrpSpPr/>
        <p:nvPr/>
      </p:nvGrpSpPr>
      <p:grpSpPr>
        <a:xfrm>
          <a:off x="0" y="0"/>
          <a:ext cx="0" cy="0"/>
          <a:chOff x="0" y="0"/>
          <a:chExt cx="0" cy="0"/>
        </a:xfrm>
      </p:grpSpPr>
      <p:sp>
        <p:nvSpPr>
          <p:cNvPr id="43" name="Google Shape;43;p8"/>
          <p:cNvSpPr txBox="1"/>
          <p:nvPr>
            <p:ph type="title"/>
          </p:nvPr>
        </p:nvSpPr>
        <p:spPr>
          <a:xfrm>
            <a:off x="490250" y="526350"/>
            <a:ext cx="56136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dk2"/>
              </a:buClr>
              <a:buSzPts val="5400"/>
              <a:buNone/>
              <a:defRPr b="0" sz="5400">
                <a:solidFill>
                  <a:schemeClr val="dk2"/>
                </a:solidFill>
              </a:defRPr>
            </a:lvl1pPr>
            <a:lvl2pPr lvl="1">
              <a:spcBef>
                <a:spcPts val="0"/>
              </a:spcBef>
              <a:spcAft>
                <a:spcPts val="0"/>
              </a:spcAft>
              <a:buClr>
                <a:schemeClr val="dk2"/>
              </a:buClr>
              <a:buSzPts val="5400"/>
              <a:buNone/>
              <a:defRPr b="0" sz="5400">
                <a:solidFill>
                  <a:schemeClr val="dk2"/>
                </a:solidFill>
              </a:defRPr>
            </a:lvl2pPr>
            <a:lvl3pPr lvl="2">
              <a:spcBef>
                <a:spcPts val="0"/>
              </a:spcBef>
              <a:spcAft>
                <a:spcPts val="0"/>
              </a:spcAft>
              <a:buClr>
                <a:schemeClr val="dk2"/>
              </a:buClr>
              <a:buSzPts val="5400"/>
              <a:buNone/>
              <a:defRPr b="0" sz="5400">
                <a:solidFill>
                  <a:schemeClr val="dk2"/>
                </a:solidFill>
              </a:defRPr>
            </a:lvl3pPr>
            <a:lvl4pPr lvl="3">
              <a:spcBef>
                <a:spcPts val="0"/>
              </a:spcBef>
              <a:spcAft>
                <a:spcPts val="0"/>
              </a:spcAft>
              <a:buClr>
                <a:schemeClr val="dk2"/>
              </a:buClr>
              <a:buSzPts val="5400"/>
              <a:buNone/>
              <a:defRPr b="0" sz="5400">
                <a:solidFill>
                  <a:schemeClr val="dk2"/>
                </a:solidFill>
              </a:defRPr>
            </a:lvl4pPr>
            <a:lvl5pPr lvl="4">
              <a:spcBef>
                <a:spcPts val="0"/>
              </a:spcBef>
              <a:spcAft>
                <a:spcPts val="0"/>
              </a:spcAft>
              <a:buClr>
                <a:schemeClr val="dk2"/>
              </a:buClr>
              <a:buSzPts val="5400"/>
              <a:buNone/>
              <a:defRPr b="0" sz="5400">
                <a:solidFill>
                  <a:schemeClr val="dk2"/>
                </a:solidFill>
              </a:defRPr>
            </a:lvl5pPr>
            <a:lvl6pPr lvl="5">
              <a:spcBef>
                <a:spcPts val="0"/>
              </a:spcBef>
              <a:spcAft>
                <a:spcPts val="0"/>
              </a:spcAft>
              <a:buClr>
                <a:schemeClr val="dk2"/>
              </a:buClr>
              <a:buSzPts val="5400"/>
              <a:buNone/>
              <a:defRPr b="0" sz="5400">
                <a:solidFill>
                  <a:schemeClr val="dk2"/>
                </a:solidFill>
              </a:defRPr>
            </a:lvl6pPr>
            <a:lvl7pPr lvl="6">
              <a:spcBef>
                <a:spcPts val="0"/>
              </a:spcBef>
              <a:spcAft>
                <a:spcPts val="0"/>
              </a:spcAft>
              <a:buClr>
                <a:schemeClr val="dk2"/>
              </a:buClr>
              <a:buSzPts val="5400"/>
              <a:buNone/>
              <a:defRPr b="0" sz="5400">
                <a:solidFill>
                  <a:schemeClr val="dk2"/>
                </a:solidFill>
              </a:defRPr>
            </a:lvl7pPr>
            <a:lvl8pPr lvl="7">
              <a:spcBef>
                <a:spcPts val="0"/>
              </a:spcBef>
              <a:spcAft>
                <a:spcPts val="0"/>
              </a:spcAft>
              <a:buClr>
                <a:schemeClr val="dk2"/>
              </a:buClr>
              <a:buSzPts val="5400"/>
              <a:buNone/>
              <a:defRPr b="0" sz="5400">
                <a:solidFill>
                  <a:schemeClr val="dk2"/>
                </a:solidFill>
              </a:defRPr>
            </a:lvl8pPr>
            <a:lvl9pPr lvl="8">
              <a:spcBef>
                <a:spcPts val="0"/>
              </a:spcBef>
              <a:spcAft>
                <a:spcPts val="0"/>
              </a:spcAft>
              <a:buClr>
                <a:schemeClr val="dk2"/>
              </a:buClr>
              <a:buSzPts val="5400"/>
              <a:buNone/>
              <a:defRPr b="0" sz="5400">
                <a:solidFill>
                  <a:schemeClr val="dk2"/>
                </a:solidFill>
              </a:defRPr>
            </a:lvl9pPr>
          </a:lstStyle>
          <a:p/>
        </p:txBody>
      </p:sp>
      <p:sp>
        <p:nvSpPr>
          <p:cNvPr id="44" name="Google Shape;4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a:off x="4572000" y="0"/>
            <a:ext cx="45720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 name="Google Shape;47;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8" name="Google Shape;48;p9"/>
          <p:cNvSpPr txBox="1"/>
          <p:nvPr>
            <p:ph type="title"/>
          </p:nvPr>
        </p:nvSpPr>
        <p:spPr>
          <a:xfrm>
            <a:off x="265500" y="1039675"/>
            <a:ext cx="4045200" cy="16758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9" name="Google Shape;49;p9"/>
          <p:cNvSpPr txBox="1"/>
          <p:nvPr>
            <p:ph idx="1" type="subTitle"/>
          </p:nvPr>
        </p:nvSpPr>
        <p:spPr>
          <a:xfrm>
            <a:off x="265500" y="27268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ph idx="1" type="body"/>
          </p:nvPr>
        </p:nvSpPr>
        <p:spPr>
          <a:xfrm>
            <a:off x="311700" y="42307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p:txBody>
      </p:sp>
      <p:sp>
        <p:nvSpPr>
          <p:cNvPr id="54" name="Google Shape;5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5" name="Shape 55"/>
        <p:cNvGrpSpPr/>
        <p:nvPr/>
      </p:nvGrpSpPr>
      <p:grpSpPr>
        <a:xfrm>
          <a:off x="0" y="0"/>
          <a:ext cx="0" cy="0"/>
          <a:chOff x="0" y="0"/>
          <a:chExt cx="0" cy="0"/>
        </a:xfrm>
      </p:grpSpPr>
      <p:sp>
        <p:nvSpPr>
          <p:cNvPr id="56" name="Google Shape;56;p11"/>
          <p:cNvSpPr/>
          <p:nvPr/>
        </p:nvSpPr>
        <p:spPr>
          <a:xfrm>
            <a:off x="-75"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1"/>
          <p:cNvSpPr txBox="1"/>
          <p:nvPr>
            <p:ph hasCustomPrompt="1" type="title"/>
          </p:nvPr>
        </p:nvSpPr>
        <p:spPr>
          <a:xfrm>
            <a:off x="311700" y="1304850"/>
            <a:ext cx="8520600" cy="15384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accent3"/>
              </a:buClr>
              <a:buSzPts val="13000"/>
              <a:buNone/>
              <a:defRPr sz="13000">
                <a:solidFill>
                  <a:schemeClr val="accent3"/>
                </a:solidFill>
              </a:defRPr>
            </a:lvl1pPr>
            <a:lvl2pPr lvl="1" algn="ctr">
              <a:spcBef>
                <a:spcPts val="0"/>
              </a:spcBef>
              <a:spcAft>
                <a:spcPts val="0"/>
              </a:spcAft>
              <a:buClr>
                <a:schemeClr val="accent3"/>
              </a:buClr>
              <a:buSzPts val="13000"/>
              <a:buNone/>
              <a:defRPr sz="13000">
                <a:solidFill>
                  <a:schemeClr val="accent3"/>
                </a:solidFill>
              </a:defRPr>
            </a:lvl2pPr>
            <a:lvl3pPr lvl="2" algn="ctr">
              <a:spcBef>
                <a:spcPts val="0"/>
              </a:spcBef>
              <a:spcAft>
                <a:spcPts val="0"/>
              </a:spcAft>
              <a:buClr>
                <a:schemeClr val="accent3"/>
              </a:buClr>
              <a:buSzPts val="13000"/>
              <a:buNone/>
              <a:defRPr sz="13000">
                <a:solidFill>
                  <a:schemeClr val="accent3"/>
                </a:solidFill>
              </a:defRPr>
            </a:lvl3pPr>
            <a:lvl4pPr lvl="3" algn="ctr">
              <a:spcBef>
                <a:spcPts val="0"/>
              </a:spcBef>
              <a:spcAft>
                <a:spcPts val="0"/>
              </a:spcAft>
              <a:buClr>
                <a:schemeClr val="accent3"/>
              </a:buClr>
              <a:buSzPts val="13000"/>
              <a:buNone/>
              <a:defRPr sz="13000">
                <a:solidFill>
                  <a:schemeClr val="accent3"/>
                </a:solidFill>
              </a:defRPr>
            </a:lvl4pPr>
            <a:lvl5pPr lvl="4" algn="ctr">
              <a:spcBef>
                <a:spcPts val="0"/>
              </a:spcBef>
              <a:spcAft>
                <a:spcPts val="0"/>
              </a:spcAft>
              <a:buClr>
                <a:schemeClr val="accent3"/>
              </a:buClr>
              <a:buSzPts val="13000"/>
              <a:buNone/>
              <a:defRPr sz="13000">
                <a:solidFill>
                  <a:schemeClr val="accent3"/>
                </a:solidFill>
              </a:defRPr>
            </a:lvl5pPr>
            <a:lvl6pPr lvl="5" algn="ctr">
              <a:spcBef>
                <a:spcPts val="0"/>
              </a:spcBef>
              <a:spcAft>
                <a:spcPts val="0"/>
              </a:spcAft>
              <a:buClr>
                <a:schemeClr val="accent3"/>
              </a:buClr>
              <a:buSzPts val="13000"/>
              <a:buNone/>
              <a:defRPr sz="13000">
                <a:solidFill>
                  <a:schemeClr val="accent3"/>
                </a:solidFill>
              </a:defRPr>
            </a:lvl6pPr>
            <a:lvl7pPr lvl="6" algn="ctr">
              <a:spcBef>
                <a:spcPts val="0"/>
              </a:spcBef>
              <a:spcAft>
                <a:spcPts val="0"/>
              </a:spcAft>
              <a:buClr>
                <a:schemeClr val="accent3"/>
              </a:buClr>
              <a:buSzPts val="13000"/>
              <a:buNone/>
              <a:defRPr sz="13000">
                <a:solidFill>
                  <a:schemeClr val="accent3"/>
                </a:solidFill>
              </a:defRPr>
            </a:lvl7pPr>
            <a:lvl8pPr lvl="7" algn="ctr">
              <a:spcBef>
                <a:spcPts val="0"/>
              </a:spcBef>
              <a:spcAft>
                <a:spcPts val="0"/>
              </a:spcAft>
              <a:buClr>
                <a:schemeClr val="accent3"/>
              </a:buClr>
              <a:buSzPts val="13000"/>
              <a:buNone/>
              <a:defRPr sz="13000">
                <a:solidFill>
                  <a:schemeClr val="accent3"/>
                </a:solidFill>
              </a:defRPr>
            </a:lvl8pPr>
            <a:lvl9pPr lvl="8" algn="ctr">
              <a:spcBef>
                <a:spcPts val="0"/>
              </a:spcBef>
              <a:spcAft>
                <a:spcPts val="0"/>
              </a:spcAft>
              <a:buClr>
                <a:schemeClr val="accent3"/>
              </a:buClr>
              <a:buSzPts val="13000"/>
              <a:buNone/>
              <a:defRPr sz="13000">
                <a:solidFill>
                  <a:schemeClr val="accent3"/>
                </a:solidFill>
              </a:defRPr>
            </a:lvl9pPr>
          </a:lstStyle>
          <a:p>
            <a:r>
              <a:t>xx%</a:t>
            </a:r>
          </a:p>
        </p:txBody>
      </p:sp>
      <p:sp>
        <p:nvSpPr>
          <p:cNvPr id="58" name="Google Shape;58;p11"/>
          <p:cNvSpPr txBox="1"/>
          <p:nvPr>
            <p:ph idx="1" type="body"/>
          </p:nvPr>
        </p:nvSpPr>
        <p:spPr>
          <a:xfrm>
            <a:off x="311700" y="299565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9" name="Google Shape;5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trop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9pPr>
          </a:lstStyle>
          <a:p/>
        </p:txBody>
      </p:sp>
      <p:sp>
        <p:nvSpPr>
          <p:cNvPr id="7" name="Google Shape;7;p1"/>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indent="-317500" lvl="1" marL="9144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indent="-317500" lvl="2" marL="13716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indent="-317500" lvl="3" marL="18288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indent="-317500" lvl="4" marL="22860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indent="-317500" lvl="5" marL="27432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indent="-317500" lvl="6" marL="32004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indent="-317500" lvl="7" marL="36576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indent="-317500" lvl="8" marL="41148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Open Sans"/>
                <a:ea typeface="Open Sans"/>
                <a:cs typeface="Open Sans"/>
                <a:sym typeface="Open Sans"/>
              </a:defRPr>
            </a:lvl1pPr>
            <a:lvl2pPr lvl="1" algn="r">
              <a:buNone/>
              <a:defRPr sz="1000">
                <a:solidFill>
                  <a:schemeClr val="dk2"/>
                </a:solidFill>
                <a:latin typeface="Open Sans"/>
                <a:ea typeface="Open Sans"/>
                <a:cs typeface="Open Sans"/>
                <a:sym typeface="Open Sans"/>
              </a:defRPr>
            </a:lvl2pPr>
            <a:lvl3pPr lvl="2" algn="r">
              <a:buNone/>
              <a:defRPr sz="1000">
                <a:solidFill>
                  <a:schemeClr val="dk2"/>
                </a:solidFill>
                <a:latin typeface="Open Sans"/>
                <a:ea typeface="Open Sans"/>
                <a:cs typeface="Open Sans"/>
                <a:sym typeface="Open Sans"/>
              </a:defRPr>
            </a:lvl3pPr>
            <a:lvl4pPr lvl="3" algn="r">
              <a:buNone/>
              <a:defRPr sz="1000">
                <a:solidFill>
                  <a:schemeClr val="dk2"/>
                </a:solidFill>
                <a:latin typeface="Open Sans"/>
                <a:ea typeface="Open Sans"/>
                <a:cs typeface="Open Sans"/>
                <a:sym typeface="Open Sans"/>
              </a:defRPr>
            </a:lvl4pPr>
            <a:lvl5pPr lvl="4" algn="r">
              <a:buNone/>
              <a:defRPr sz="1000">
                <a:solidFill>
                  <a:schemeClr val="dk2"/>
                </a:solidFill>
                <a:latin typeface="Open Sans"/>
                <a:ea typeface="Open Sans"/>
                <a:cs typeface="Open Sans"/>
                <a:sym typeface="Open Sans"/>
              </a:defRPr>
            </a:lvl5pPr>
            <a:lvl6pPr lvl="5" algn="r">
              <a:buNone/>
              <a:defRPr sz="1000">
                <a:solidFill>
                  <a:schemeClr val="dk2"/>
                </a:solidFill>
                <a:latin typeface="Open Sans"/>
                <a:ea typeface="Open Sans"/>
                <a:cs typeface="Open Sans"/>
                <a:sym typeface="Open Sans"/>
              </a:defRPr>
            </a:lvl6pPr>
            <a:lvl7pPr lvl="6" algn="r">
              <a:buNone/>
              <a:defRPr sz="1000">
                <a:solidFill>
                  <a:schemeClr val="dk2"/>
                </a:solidFill>
                <a:latin typeface="Open Sans"/>
                <a:ea typeface="Open Sans"/>
                <a:cs typeface="Open Sans"/>
                <a:sym typeface="Open Sans"/>
              </a:defRPr>
            </a:lvl7pPr>
            <a:lvl8pPr lvl="7" algn="r">
              <a:buNone/>
              <a:defRPr sz="1000">
                <a:solidFill>
                  <a:schemeClr val="dk2"/>
                </a:solidFill>
                <a:latin typeface="Open Sans"/>
                <a:ea typeface="Open Sans"/>
                <a:cs typeface="Open Sans"/>
                <a:sym typeface="Open Sans"/>
              </a:defRPr>
            </a:lvl8pPr>
            <a:lvl9pPr lvl="8" algn="r">
              <a:buNone/>
              <a:defRPr sz="1000">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3"/>
          <p:cNvSpPr txBox="1"/>
          <p:nvPr>
            <p:ph type="ctrTitle"/>
          </p:nvPr>
        </p:nvSpPr>
        <p:spPr>
          <a:xfrm>
            <a:off x="1004150" y="1751764"/>
            <a:ext cx="7136700" cy="10224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Beveridgean Unemployment Gap</a:t>
            </a:r>
            <a:endParaRPr/>
          </a:p>
        </p:txBody>
      </p:sp>
      <p:sp>
        <p:nvSpPr>
          <p:cNvPr id="67" name="Google Shape;67;p13"/>
          <p:cNvSpPr txBox="1"/>
          <p:nvPr>
            <p:ph idx="1" type="subTitle"/>
          </p:nvPr>
        </p:nvSpPr>
        <p:spPr>
          <a:xfrm>
            <a:off x="2137250" y="3004714"/>
            <a:ext cx="4870500" cy="792600"/>
          </a:xfrm>
          <a:prstGeom prst="rect">
            <a:avLst/>
          </a:prstGeom>
        </p:spPr>
        <p:txBody>
          <a:bodyPr anchorCtr="0" anchor="t" bIns="91425" lIns="91425" spcFirstLastPara="1" rIns="91425" wrap="square" tIns="91425">
            <a:normAutofit fontScale="62500" lnSpcReduction="20000"/>
          </a:bodyPr>
          <a:lstStyle/>
          <a:p>
            <a:pPr indent="0" lvl="0" marL="0" rtl="0" algn="ctr">
              <a:spcBef>
                <a:spcPts val="0"/>
              </a:spcBef>
              <a:spcAft>
                <a:spcPts val="0"/>
              </a:spcAft>
              <a:buNone/>
            </a:pPr>
            <a:r>
              <a:rPr lang="en"/>
              <a:t>By: </a:t>
            </a:r>
            <a:r>
              <a:rPr lang="en"/>
              <a:t>Pascal Michaillat &amp; Emmanuel Saez 2021</a:t>
            </a:r>
            <a:endParaRPr/>
          </a:p>
          <a:p>
            <a:pPr indent="0" lvl="0" marL="0" rtl="0" algn="ctr">
              <a:spcBef>
                <a:spcPts val="0"/>
              </a:spcBef>
              <a:spcAft>
                <a:spcPts val="0"/>
              </a:spcAft>
              <a:buNone/>
            </a:pPr>
            <a:r>
              <a:rPr lang="en"/>
              <a:t>Presented by: Natalie Parker Blount </a:t>
            </a:r>
            <a:endParaRPr/>
          </a:p>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4"/>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Contex and Lecture Relation</a:t>
            </a:r>
            <a:endParaRPr/>
          </a:p>
        </p:txBody>
      </p:sp>
      <p:sp>
        <p:nvSpPr>
          <p:cNvPr id="73" name="Google Shape;73;p14"/>
          <p:cNvSpPr txBox="1"/>
          <p:nvPr>
            <p:ph idx="1" type="body"/>
          </p:nvPr>
        </p:nvSpPr>
        <p:spPr>
          <a:xfrm>
            <a:off x="311700" y="1266325"/>
            <a:ext cx="8520600" cy="33027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
              <a:t>We have studied the Beveridge Curve and how it can help us determine the unemployment and vacancy tradeoffs. </a:t>
            </a:r>
            <a:endParaRPr/>
          </a:p>
          <a:p>
            <a:pPr indent="-342900" lvl="0" marL="457200" rtl="0" algn="l">
              <a:spcBef>
                <a:spcPts val="0"/>
              </a:spcBef>
              <a:spcAft>
                <a:spcPts val="0"/>
              </a:spcAft>
              <a:buSzPts val="1800"/>
              <a:buChar char="-"/>
            </a:pPr>
            <a:r>
              <a:rPr lang="en"/>
              <a:t>The Beveridge curve can shift with aggregate demand shocks</a:t>
            </a:r>
            <a:endParaRPr/>
          </a:p>
          <a:p>
            <a:pPr indent="-342900" lvl="0" marL="457200" rtl="0" algn="l">
              <a:spcBef>
                <a:spcPts val="0"/>
              </a:spcBef>
              <a:spcAft>
                <a:spcPts val="0"/>
              </a:spcAft>
              <a:buSzPts val="1800"/>
              <a:buChar char="-"/>
            </a:pPr>
            <a:r>
              <a:rPr lang="en"/>
              <a:t>This also helps us determine the efficient unemployment rate</a:t>
            </a:r>
            <a:endParaRPr/>
          </a:p>
          <a:p>
            <a:pPr indent="-342900" lvl="0" marL="457200" rtl="0" algn="l">
              <a:spcBef>
                <a:spcPts val="0"/>
              </a:spcBef>
              <a:spcAft>
                <a:spcPts val="0"/>
              </a:spcAft>
              <a:buSzPts val="1800"/>
              <a:buChar char="-"/>
            </a:pPr>
            <a:r>
              <a:rPr lang="en"/>
              <a:t>We have also learned about </a:t>
            </a:r>
            <a:r>
              <a:rPr lang="en"/>
              <a:t>transaction</a:t>
            </a:r>
            <a:r>
              <a:rPr lang="en"/>
              <a:t> costs and the cost of recruiting and the social costs of unemployment</a:t>
            </a:r>
            <a:endParaRPr/>
          </a:p>
          <a:p>
            <a:pPr indent="-342900" lvl="0" marL="457200" rtl="0" algn="l">
              <a:spcBef>
                <a:spcPts val="0"/>
              </a:spcBef>
              <a:spcAft>
                <a:spcPts val="0"/>
              </a:spcAft>
              <a:buSzPts val="1800"/>
              <a:buChar char="-"/>
            </a:pPr>
            <a:r>
              <a:rPr lang="en"/>
              <a:t>All of these are used in the paper to help determine the answer to the research question</a:t>
            </a:r>
            <a:endParaRPr/>
          </a:p>
          <a:p>
            <a:pPr indent="-342900" lvl="0" marL="457200" rtl="0" algn="l">
              <a:spcBef>
                <a:spcPts val="0"/>
              </a:spcBef>
              <a:spcAft>
                <a:spcPts val="0"/>
              </a:spcAft>
              <a:buSzPts val="1800"/>
              <a:buChar char="-"/>
            </a:pPr>
            <a:r>
              <a:rPr lang="en"/>
              <a:t>The DMP Model: explains unemployment by looking at how many job seekers there are, how many job vacancies there are, the costs firms incur to fill vacancies, and the costs job seekers incur to find a job</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5"/>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Research Question</a:t>
            </a:r>
            <a:endParaRPr/>
          </a:p>
        </p:txBody>
      </p:sp>
      <p:sp>
        <p:nvSpPr>
          <p:cNvPr id="79" name="Google Shape;79;p15"/>
          <p:cNvSpPr txBox="1"/>
          <p:nvPr>
            <p:ph idx="1" type="body"/>
          </p:nvPr>
        </p:nvSpPr>
        <p:spPr>
          <a:xfrm>
            <a:off x="311700" y="1266325"/>
            <a:ext cx="8520600" cy="3302700"/>
          </a:xfrm>
          <a:prstGeom prst="rect">
            <a:avLst/>
          </a:prstGeom>
        </p:spPr>
        <p:txBody>
          <a:bodyPr anchorCtr="0" anchor="t" bIns="91425" lIns="91425" spcFirstLastPara="1" rIns="91425" wrap="square" tIns="91425">
            <a:normAutofit fontScale="92500" lnSpcReduction="10000"/>
          </a:bodyPr>
          <a:lstStyle/>
          <a:p>
            <a:pPr indent="-334327" lvl="0" marL="457200" rtl="0" algn="l">
              <a:spcBef>
                <a:spcPts val="0"/>
              </a:spcBef>
              <a:spcAft>
                <a:spcPts val="0"/>
              </a:spcAft>
              <a:buSzPct val="100000"/>
              <a:buChar char="-"/>
            </a:pPr>
            <a:r>
              <a:rPr lang="en"/>
              <a:t>Does the labor market operate efficiently? If not,how far from efficiency is it?</a:t>
            </a:r>
            <a:endParaRPr/>
          </a:p>
          <a:p>
            <a:pPr indent="-334327" lvl="0" marL="457200" rtl="0" algn="l">
              <a:spcBef>
                <a:spcPts val="0"/>
              </a:spcBef>
              <a:spcAft>
                <a:spcPts val="0"/>
              </a:spcAft>
              <a:buSzPct val="100000"/>
              <a:buChar char="-"/>
            </a:pPr>
            <a:r>
              <a:rPr lang="en"/>
              <a:t>The paper constructs a new measure for the gap between the actual and efficient unemployment rate</a:t>
            </a:r>
            <a:endParaRPr/>
          </a:p>
          <a:p>
            <a:pPr indent="-334327" lvl="0" marL="457200" rtl="0" algn="l">
              <a:spcBef>
                <a:spcPts val="0"/>
              </a:spcBef>
              <a:spcAft>
                <a:spcPts val="0"/>
              </a:spcAft>
              <a:buSzPct val="100000"/>
              <a:buChar char="-"/>
            </a:pPr>
            <a:r>
              <a:rPr lang="en"/>
              <a:t>This strategy can provide an important piece of statistical information that can be used to guide more effective and efficient public policy </a:t>
            </a:r>
            <a:endParaRPr/>
          </a:p>
          <a:p>
            <a:pPr indent="-334327" lvl="0" marL="457200" rtl="0" algn="l">
              <a:spcBef>
                <a:spcPts val="0"/>
              </a:spcBef>
              <a:spcAft>
                <a:spcPts val="0"/>
              </a:spcAft>
              <a:buSzPct val="100000"/>
              <a:buChar char="-"/>
            </a:pPr>
            <a:r>
              <a:rPr lang="en"/>
              <a:t>“Two measures of the unemployment gap are commonly used: the difference between the unemployment rate and its trend; and the difference between the unemployment rate and the non-accelerating-inflation rate of unemployment (NAIRU).Although these two measures are easy to use, neither is an ideal measure of the unemployment gap because neither measure the efficient unemployment rate.” (pg 1)</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6"/>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are the Main Elements to the Answer?</a:t>
            </a:r>
            <a:endParaRPr/>
          </a:p>
        </p:txBody>
      </p:sp>
      <p:sp>
        <p:nvSpPr>
          <p:cNvPr id="85" name="Google Shape;85;p16"/>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 new measure of the unemployment gap </a:t>
            </a:r>
            <a:r>
              <a:rPr lang="en"/>
              <a:t>measuring</a:t>
            </a:r>
            <a:r>
              <a:rPr lang="en"/>
              <a:t> both unemployment and job vacancies</a:t>
            </a:r>
            <a:endParaRPr/>
          </a:p>
          <a:p>
            <a:pPr indent="-342900" lvl="0" marL="457200" rtl="0" algn="l">
              <a:spcBef>
                <a:spcPts val="0"/>
              </a:spcBef>
              <a:spcAft>
                <a:spcPts val="0"/>
              </a:spcAft>
              <a:buSzPts val="1800"/>
              <a:buChar char="-"/>
            </a:pPr>
            <a:r>
              <a:rPr lang="en"/>
              <a:t>The formula is based on three statistics, characterizes the efficiency point on the Beveridge curve, and works for a variety of other models</a:t>
            </a:r>
            <a:endParaRPr/>
          </a:p>
          <a:p>
            <a:pPr indent="-355600" lvl="0" marL="457200" rtl="0" algn="l">
              <a:spcBef>
                <a:spcPts val="0"/>
              </a:spcBef>
              <a:spcAft>
                <a:spcPts val="0"/>
              </a:spcAft>
              <a:buSzPts val="2000"/>
              <a:buChar char="-"/>
            </a:pPr>
            <a:r>
              <a:rPr lang="en" sz="1600"/>
              <a:t>The three statistics use in the function are: </a:t>
            </a:r>
            <a:endParaRPr sz="1600"/>
          </a:p>
          <a:p>
            <a:pPr indent="-330200" lvl="1" marL="914400" rtl="0" algn="l">
              <a:spcBef>
                <a:spcPts val="0"/>
              </a:spcBef>
              <a:spcAft>
                <a:spcPts val="0"/>
              </a:spcAft>
              <a:buSzPts val="1600"/>
              <a:buChar char="-"/>
            </a:pPr>
            <a:r>
              <a:rPr lang="en" sz="1600"/>
              <a:t>The elasticity of the Beveridge Curve</a:t>
            </a:r>
            <a:endParaRPr sz="1600"/>
          </a:p>
          <a:p>
            <a:pPr indent="-330200" lvl="1" marL="914400" rtl="0" algn="l">
              <a:spcBef>
                <a:spcPts val="0"/>
              </a:spcBef>
              <a:spcAft>
                <a:spcPts val="0"/>
              </a:spcAft>
              <a:buSzPts val="1600"/>
              <a:buChar char="-"/>
            </a:pPr>
            <a:r>
              <a:rPr lang="en" sz="1600"/>
              <a:t>Social cost of Unemployment</a:t>
            </a:r>
            <a:endParaRPr sz="1600"/>
          </a:p>
          <a:p>
            <a:pPr indent="-330200" lvl="1" marL="914400" rtl="0" algn="l">
              <a:spcBef>
                <a:spcPts val="0"/>
              </a:spcBef>
              <a:spcAft>
                <a:spcPts val="0"/>
              </a:spcAft>
              <a:buSzPts val="1600"/>
              <a:buChar char="-"/>
            </a:pPr>
            <a:r>
              <a:rPr lang="en" sz="1600"/>
              <a:t>Cost of Recruiting</a:t>
            </a:r>
            <a:endParaRPr sz="1600"/>
          </a:p>
          <a:p>
            <a:pPr indent="-330200" lvl="0" marL="457200" rtl="0" algn="l">
              <a:spcBef>
                <a:spcPts val="0"/>
              </a:spcBef>
              <a:spcAft>
                <a:spcPts val="0"/>
              </a:spcAft>
              <a:buSzPts val="1600"/>
              <a:buChar char="-"/>
            </a:pPr>
            <a:r>
              <a:rPr lang="en" sz="1600"/>
              <a:t>This model always follows the Beveridge Curve as opposed to other </a:t>
            </a:r>
            <a:r>
              <a:rPr lang="en" sz="1600"/>
              <a:t>models</a:t>
            </a:r>
            <a:r>
              <a:rPr lang="en" sz="1600"/>
              <a:t> like the Hosios condition</a:t>
            </a:r>
            <a:endParaRPr sz="16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7"/>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Findings Continued </a:t>
            </a:r>
            <a:endParaRPr/>
          </a:p>
        </p:txBody>
      </p:sp>
      <p:sp>
        <p:nvSpPr>
          <p:cNvPr id="91" name="Google Shape;91;p17"/>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High social Costs for Unemployment </a:t>
            </a:r>
            <a:endParaRPr/>
          </a:p>
          <a:p>
            <a:pPr indent="-342900" lvl="0" marL="457200" rtl="0" algn="l">
              <a:spcBef>
                <a:spcPts val="0"/>
              </a:spcBef>
              <a:spcAft>
                <a:spcPts val="0"/>
              </a:spcAft>
              <a:buSzPts val="1800"/>
              <a:buChar char="-"/>
            </a:pPr>
            <a:r>
              <a:rPr lang="en"/>
              <a:t>Efficient unemployment rate in US averages 4.3% and stays between 3.0 and 5.4%</a:t>
            </a:r>
            <a:endParaRPr/>
          </a:p>
          <a:p>
            <a:pPr indent="-342900" lvl="0" marL="457200" rtl="0" algn="l">
              <a:spcBef>
                <a:spcPts val="0"/>
              </a:spcBef>
              <a:spcAft>
                <a:spcPts val="0"/>
              </a:spcAft>
              <a:buSzPts val="1800"/>
              <a:buChar char="-"/>
            </a:pPr>
            <a:r>
              <a:rPr lang="en"/>
              <a:t>The US labor market is generally inefficient and slack, in times of trouble it is especially slack</a:t>
            </a:r>
            <a:endParaRPr/>
          </a:p>
          <a:p>
            <a:pPr indent="-342900" lvl="0" marL="457200" rtl="0" algn="l">
              <a:spcBef>
                <a:spcPts val="0"/>
              </a:spcBef>
              <a:spcAft>
                <a:spcPts val="0"/>
              </a:spcAft>
              <a:buSzPts val="1800"/>
              <a:buChar char="-"/>
            </a:pPr>
            <a:r>
              <a:rPr lang="en"/>
              <a:t>The main part of this model is the Beveridge Curve</a:t>
            </a:r>
            <a:endParaRPr/>
          </a:p>
          <a:p>
            <a:pPr indent="-342900" lvl="0" marL="457200" rtl="0" algn="l">
              <a:spcBef>
                <a:spcPts val="0"/>
              </a:spcBef>
              <a:spcAft>
                <a:spcPts val="0"/>
              </a:spcAft>
              <a:buSzPts val="1800"/>
              <a:buChar char="-"/>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8"/>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Equations</a:t>
            </a:r>
            <a:endParaRPr/>
          </a:p>
        </p:txBody>
      </p:sp>
      <p:sp>
        <p:nvSpPr>
          <p:cNvPr id="97" name="Google Shape;97;p18"/>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Beveridge Curve Elasticity</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Char char="-"/>
            </a:pPr>
            <a:r>
              <a:rPr lang="en"/>
              <a:t>Social Cost of Unemployment</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Char char="-"/>
            </a:pPr>
            <a:r>
              <a:rPr lang="en"/>
              <a:t>Recruiting Cost</a:t>
            </a:r>
            <a:endParaRPr/>
          </a:p>
        </p:txBody>
      </p:sp>
      <p:pic>
        <p:nvPicPr>
          <p:cNvPr id="98" name="Google Shape;98;p18" title="Screenshot 2025-11-17 151046.png"/>
          <p:cNvPicPr preferRelativeResize="0"/>
          <p:nvPr/>
        </p:nvPicPr>
        <p:blipFill>
          <a:blip r:embed="rId3">
            <a:alphaModFix/>
          </a:blip>
          <a:stretch>
            <a:fillRect/>
          </a:stretch>
        </p:blipFill>
        <p:spPr>
          <a:xfrm>
            <a:off x="2643225" y="1751425"/>
            <a:ext cx="3069000" cy="802450"/>
          </a:xfrm>
          <a:prstGeom prst="rect">
            <a:avLst/>
          </a:prstGeom>
          <a:noFill/>
          <a:ln>
            <a:noFill/>
          </a:ln>
        </p:spPr>
      </p:pic>
      <p:pic>
        <p:nvPicPr>
          <p:cNvPr id="99" name="Google Shape;99;p18" title="Screenshot 2025-11-17 151059.png"/>
          <p:cNvPicPr preferRelativeResize="0"/>
          <p:nvPr/>
        </p:nvPicPr>
        <p:blipFill>
          <a:blip r:embed="rId4">
            <a:alphaModFix/>
          </a:blip>
          <a:stretch>
            <a:fillRect/>
          </a:stretch>
        </p:blipFill>
        <p:spPr>
          <a:xfrm>
            <a:off x="2643226" y="3152880"/>
            <a:ext cx="3429700" cy="632150"/>
          </a:xfrm>
          <a:prstGeom prst="rect">
            <a:avLst/>
          </a:prstGeom>
          <a:noFill/>
          <a:ln>
            <a:noFill/>
          </a:ln>
        </p:spPr>
      </p:pic>
      <p:pic>
        <p:nvPicPr>
          <p:cNvPr id="100" name="Google Shape;100;p18" title="Screenshot 2025-11-17 151112.png"/>
          <p:cNvPicPr preferRelativeResize="0"/>
          <p:nvPr/>
        </p:nvPicPr>
        <p:blipFill>
          <a:blip r:embed="rId5">
            <a:alphaModFix/>
          </a:blip>
          <a:stretch>
            <a:fillRect/>
          </a:stretch>
        </p:blipFill>
        <p:spPr>
          <a:xfrm>
            <a:off x="2643225" y="4271875"/>
            <a:ext cx="2016875" cy="7635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9"/>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Graphical Representation</a:t>
            </a:r>
            <a:endParaRPr/>
          </a:p>
        </p:txBody>
      </p:sp>
      <p:sp>
        <p:nvSpPr>
          <p:cNvPr id="106" name="Google Shape;106;p19"/>
          <p:cNvSpPr txBox="1"/>
          <p:nvPr>
            <p:ph idx="1" type="body"/>
          </p:nvPr>
        </p:nvSpPr>
        <p:spPr>
          <a:xfrm>
            <a:off x="4870500" y="1701600"/>
            <a:ext cx="3961800" cy="2736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This graph shows the findings of the combination of the statistics with an estimated .26 social value of nonwork</a:t>
            </a:r>
            <a:endParaRPr/>
          </a:p>
          <a:p>
            <a:pPr indent="-342900" lvl="0" marL="457200" rtl="0" algn="l">
              <a:spcBef>
                <a:spcPts val="0"/>
              </a:spcBef>
              <a:spcAft>
                <a:spcPts val="0"/>
              </a:spcAft>
              <a:buSzPts val="1800"/>
              <a:buChar char="-"/>
            </a:pPr>
            <a:r>
              <a:rPr lang="en"/>
              <a:t>Shows the gap between the efficient unemployment rate and the actual unemployment rate</a:t>
            </a:r>
            <a:endParaRPr/>
          </a:p>
        </p:txBody>
      </p:sp>
      <p:pic>
        <p:nvPicPr>
          <p:cNvPr id="107" name="Google Shape;107;p19" title="Screenshot 2025-11-17 182316.png"/>
          <p:cNvPicPr preferRelativeResize="0"/>
          <p:nvPr/>
        </p:nvPicPr>
        <p:blipFill>
          <a:blip r:embed="rId3">
            <a:alphaModFix/>
          </a:blip>
          <a:stretch>
            <a:fillRect/>
          </a:stretch>
        </p:blipFill>
        <p:spPr>
          <a:xfrm>
            <a:off x="152400" y="1304825"/>
            <a:ext cx="5000450" cy="33939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0"/>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Positioning: </a:t>
            </a:r>
            <a:r>
              <a:rPr lang="en"/>
              <a:t>How</a:t>
            </a:r>
            <a:r>
              <a:rPr lang="en"/>
              <a:t> it was impacted by previous literature</a:t>
            </a:r>
            <a:endParaRPr/>
          </a:p>
        </p:txBody>
      </p:sp>
      <p:sp>
        <p:nvSpPr>
          <p:cNvPr id="113" name="Google Shape;113;p20"/>
          <p:cNvSpPr txBox="1"/>
          <p:nvPr>
            <p:ph idx="1" type="body"/>
          </p:nvPr>
        </p:nvSpPr>
        <p:spPr>
          <a:xfrm>
            <a:off x="311700" y="1266325"/>
            <a:ext cx="8520600" cy="37323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Previous literature like , Hagedorn and Manovskii’s, calibration of social value of nonwork was overestimated</a:t>
            </a:r>
            <a:endParaRPr/>
          </a:p>
          <a:p>
            <a:pPr indent="-342900" lvl="0" marL="457200" rtl="0" algn="l">
              <a:spcBef>
                <a:spcPts val="0"/>
              </a:spcBef>
              <a:spcAft>
                <a:spcPts val="0"/>
              </a:spcAft>
              <a:buSzPts val="1800"/>
              <a:buChar char="-"/>
            </a:pPr>
            <a:r>
              <a:rPr lang="en"/>
              <a:t>In the DMP model (what </a:t>
            </a:r>
            <a:r>
              <a:rPr lang="en"/>
              <a:t>this essay was tested in)</a:t>
            </a:r>
            <a:r>
              <a:rPr lang="en"/>
              <a:t>, workers’ bargaining power is customarily set at the level given by the Hosios condition (Mortensen and Pissarides, 1994; Shimer, 2005; Costain and Reiter, 2008)</a:t>
            </a:r>
            <a:endParaRPr/>
          </a:p>
          <a:p>
            <a:pPr indent="-342900" lvl="0" marL="457200" rtl="0" algn="l">
              <a:spcBef>
                <a:spcPts val="0"/>
              </a:spcBef>
              <a:spcAft>
                <a:spcPts val="0"/>
              </a:spcAft>
              <a:buSzPts val="1800"/>
              <a:buChar char="-"/>
            </a:pPr>
            <a:r>
              <a:rPr lang="en"/>
              <a:t>Political theorists indicating a reduction in interest rate lowers unemployment (Bernanke and Blinder, 1992; Coibion, 2012)</a:t>
            </a:r>
            <a:endParaRPr/>
          </a:p>
          <a:p>
            <a:pPr indent="-342900" lvl="0" marL="457200" rtl="0" algn="l">
              <a:spcBef>
                <a:spcPts val="0"/>
              </a:spcBef>
              <a:spcAft>
                <a:spcPts val="0"/>
              </a:spcAft>
              <a:buSzPts val="1800"/>
              <a:buChar char="-"/>
            </a:pPr>
            <a:r>
              <a:rPr lang="en"/>
              <a:t>Blanchard and Gali (2010, p. 23) find that a monetary-policy rule responding to the unemployment gap and inflation achieves almost the same welfare as the optimal policy. According to that almost-optimal rule, the nominal interest rate should fall when the unemployment gap increases.  (Quoted from Pg. 15)</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1"/>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Conclusion</a:t>
            </a:r>
            <a:endParaRPr/>
          </a:p>
        </p:txBody>
      </p:sp>
      <p:sp>
        <p:nvSpPr>
          <p:cNvPr id="119" name="Google Shape;119;p21"/>
          <p:cNvSpPr txBox="1"/>
          <p:nvPr>
            <p:ph idx="1" type="body"/>
          </p:nvPr>
        </p:nvSpPr>
        <p:spPr>
          <a:xfrm>
            <a:off x="311700" y="1266325"/>
            <a:ext cx="8520600" cy="37032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The essay found that the US has a countercyclical unemployment gap and it is not optimal to </a:t>
            </a:r>
            <a:r>
              <a:rPr lang="en"/>
              <a:t>eliminate</a:t>
            </a:r>
            <a:r>
              <a:rPr lang="en"/>
              <a:t> the unemployment gap</a:t>
            </a:r>
            <a:endParaRPr/>
          </a:p>
          <a:p>
            <a:pPr indent="-342900" lvl="0" marL="457200" rtl="0" algn="l">
              <a:spcBef>
                <a:spcPts val="0"/>
              </a:spcBef>
              <a:spcAft>
                <a:spcPts val="0"/>
              </a:spcAft>
              <a:buSzPts val="1800"/>
              <a:buChar char="-"/>
            </a:pPr>
            <a:r>
              <a:rPr lang="en"/>
              <a:t>Unemployment moves along the Beveridge Curve while efficient unemployment rate remains constant</a:t>
            </a:r>
            <a:endParaRPr/>
          </a:p>
          <a:p>
            <a:pPr indent="-342900" lvl="0" marL="457200" rtl="0" algn="l">
              <a:spcBef>
                <a:spcPts val="0"/>
              </a:spcBef>
              <a:spcAft>
                <a:spcPts val="0"/>
              </a:spcAft>
              <a:buSzPts val="1800"/>
              <a:buChar char="-"/>
            </a:pPr>
            <a:r>
              <a:rPr lang="en"/>
              <a:t>Works for both fixed wages and bargained wages</a:t>
            </a:r>
            <a:endParaRPr/>
          </a:p>
          <a:p>
            <a:pPr indent="-342900" lvl="0" marL="457200" rtl="0" algn="l">
              <a:spcBef>
                <a:spcPts val="0"/>
              </a:spcBef>
              <a:spcAft>
                <a:spcPts val="0"/>
              </a:spcAft>
              <a:buSzPts val="1800"/>
              <a:buChar char="-"/>
            </a:pPr>
            <a:r>
              <a:rPr lang="en"/>
              <a:t>This model is effective for </a:t>
            </a:r>
            <a:r>
              <a:rPr lang="en"/>
              <a:t>determining</a:t>
            </a:r>
            <a:r>
              <a:rPr lang="en"/>
              <a:t> the actual unemployment gap for policy makers</a:t>
            </a:r>
            <a:endParaRPr/>
          </a:p>
          <a:p>
            <a:pPr indent="-342900" lvl="0" marL="457200" rtl="0" algn="l">
              <a:spcBef>
                <a:spcPts val="0"/>
              </a:spcBef>
              <a:spcAft>
                <a:spcPts val="0"/>
              </a:spcAft>
              <a:buSzPts val="1800"/>
              <a:buChar char="-"/>
            </a:pPr>
            <a:r>
              <a:rPr lang="en"/>
              <a:t>They found that it </a:t>
            </a:r>
            <a:r>
              <a:rPr lang="en"/>
              <a:t>is optimal to eliminate the unemployment gap by setting the nominal interest rate appropriately (in slumps when the gap is high and to raise it when the economy is booming)</a:t>
            </a:r>
            <a:endParaRPr/>
          </a:p>
          <a:p>
            <a:pPr indent="-342900" lvl="0" marL="457200" rtl="0" algn="l">
              <a:spcBef>
                <a:spcPts val="0"/>
              </a:spcBef>
              <a:spcAft>
                <a:spcPts val="0"/>
              </a:spcAft>
              <a:buSzPts val="1800"/>
              <a:buChar char="-"/>
            </a:pPr>
            <a:r>
              <a:rPr lang="en"/>
              <a:t>Policy should be adjusted when the labor market is inefficient </a:t>
            </a:r>
            <a:endParaRPr/>
          </a:p>
          <a:p>
            <a:pPr indent="-342900" lvl="0" marL="457200" rtl="0" algn="l">
              <a:spcBef>
                <a:spcPts val="0"/>
              </a:spcBef>
              <a:spcAft>
                <a:spcPts val="0"/>
              </a:spcAft>
              <a:buSzPts val="1800"/>
              <a:buChar char="-"/>
            </a:pPr>
            <a:r>
              <a:rPr lang="en"/>
              <a:t>This method also works for local labor markets as well as </a:t>
            </a:r>
            <a:r>
              <a:rPr lang="en"/>
              <a:t>national</a:t>
            </a:r>
            <a:r>
              <a:rPr lang="en"/>
              <a:t>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