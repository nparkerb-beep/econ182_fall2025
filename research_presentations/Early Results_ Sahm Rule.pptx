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Lst>
  <p:sldSz cy="5143500" cx="9144000"/>
  <p:notesSz cx="6858000" cy="9144000"/>
  <p:embeddedFontLst>
    <p:embeddedFont>
      <p:font typeface="Raleway"/>
      <p:regular r:id="rId14"/>
      <p:bold r:id="rId15"/>
      <p:italic r:id="rId16"/>
      <p:boldItalic r:id="rId17"/>
    </p:embeddedFont>
    <p:embeddedFont>
      <p:font typeface="Lato"/>
      <p:regular r:id="rId18"/>
      <p:bold r:id="rId19"/>
      <p:italic r:id="rId20"/>
      <p:boldItalic r:id="rId2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Lato-italic.fntdata"/><Relationship Id="rId11" Type="http://schemas.openxmlformats.org/officeDocument/2006/relationships/slide" Target="slides/slide6.xml"/><Relationship Id="rId10" Type="http://schemas.openxmlformats.org/officeDocument/2006/relationships/slide" Target="slides/slide5.xml"/><Relationship Id="rId21" Type="http://schemas.openxmlformats.org/officeDocument/2006/relationships/font" Target="fonts/Lato-boldItalic.fntdata"/><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Raleway-bold.fntdata"/><Relationship Id="rId14" Type="http://schemas.openxmlformats.org/officeDocument/2006/relationships/font" Target="fonts/Raleway-regular.fntdata"/><Relationship Id="rId17" Type="http://schemas.openxmlformats.org/officeDocument/2006/relationships/font" Target="fonts/Raleway-boldItalic.fntdata"/><Relationship Id="rId16" Type="http://schemas.openxmlformats.org/officeDocument/2006/relationships/font" Target="fonts/Raleway-italic.fntdata"/><Relationship Id="rId5" Type="http://schemas.openxmlformats.org/officeDocument/2006/relationships/notesMaster" Target="notesMasters/notesMaster1.xml"/><Relationship Id="rId19" Type="http://schemas.openxmlformats.org/officeDocument/2006/relationships/font" Target="fonts/Lato-bold.fntdata"/><Relationship Id="rId6" Type="http://schemas.openxmlformats.org/officeDocument/2006/relationships/slide" Target="slides/slide1.xml"/><Relationship Id="rId18" Type="http://schemas.openxmlformats.org/officeDocument/2006/relationships/font" Target="fonts/Lato-regular.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a052690152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a052690152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3a052690152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3a052690152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a052690152_0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3a052690152_0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a1cde87e6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3a1cde87e6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a4508b4f1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a4508b4f1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a4508b4f12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3a4508b4f12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a4508b4f12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3a4508b4f12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5" name="Google Shape;15;p2"/>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6" name="Google Shape;16;p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7"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3"/>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22" name="Google Shape;22;p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 name="Google Shape;28;p4"/>
          <p:cNvSpPr txBox="1"/>
          <p:nvPr>
            <p:ph type="title"/>
          </p:nvPr>
        </p:nvSpPr>
        <p:spPr>
          <a:xfrm>
            <a:off x="729450" y="1318650"/>
            <a:ext cx="76887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29" name="Google Shape;29;p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0" name="Google Shape;30;p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5"/>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37" name="Google Shape;37;p5"/>
          <p:cNvSpPr txBox="1"/>
          <p:nvPr>
            <p:ph idx="1" type="body"/>
          </p:nvPr>
        </p:nvSpPr>
        <p:spPr>
          <a:xfrm>
            <a:off x="729325"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8" name="Google Shape;38;p5"/>
          <p:cNvSpPr txBox="1"/>
          <p:nvPr>
            <p:ph idx="2" type="body"/>
          </p:nvPr>
        </p:nvSpPr>
        <p:spPr>
          <a:xfrm>
            <a:off x="4643604"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9" name="Google Shape;39;p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6"/>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46" name="Google Shape;46;p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7"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7"/>
          <p:cNvSpPr txBox="1"/>
          <p:nvPr>
            <p:ph type="title"/>
          </p:nvPr>
        </p:nvSpPr>
        <p:spPr>
          <a:xfrm>
            <a:off x="730000" y="1318650"/>
            <a:ext cx="3300900" cy="13815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53" name="Google Shape;53;p7"/>
          <p:cNvSpPr txBox="1"/>
          <p:nvPr>
            <p:ph idx="1" type="body"/>
          </p:nvPr>
        </p:nvSpPr>
        <p:spPr>
          <a:xfrm>
            <a:off x="721225" y="2781725"/>
            <a:ext cx="3300900" cy="159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7"/>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5"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 name="Google Shape;59;p8"/>
          <p:cNvSpPr txBox="1"/>
          <p:nvPr>
            <p:ph type="title"/>
          </p:nvPr>
        </p:nvSpPr>
        <p:spPr>
          <a:xfrm>
            <a:off x="729450" y="864300"/>
            <a:ext cx="7021200" cy="29850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60" name="Google Shape;60;p8"/>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9"/>
          <p:cNvSpPr txBox="1"/>
          <p:nvPr>
            <p:ph type="title"/>
          </p:nvPr>
        </p:nvSpPr>
        <p:spPr>
          <a:xfrm>
            <a:off x="730000" y="1318650"/>
            <a:ext cx="3300900" cy="1687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67" name="Google Shape;67;p9"/>
          <p:cNvSpPr txBox="1"/>
          <p:nvPr>
            <p:ph idx="1" type="subTitle"/>
          </p:nvPr>
        </p:nvSpPr>
        <p:spPr>
          <a:xfrm>
            <a:off x="724950" y="3161525"/>
            <a:ext cx="3300900" cy="759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68" name="Google Shape;68;p9"/>
          <p:cNvSpPr txBox="1"/>
          <p:nvPr>
            <p:ph idx="2" type="body"/>
          </p:nvPr>
        </p:nvSpPr>
        <p:spPr>
          <a:xfrm>
            <a:off x="5174225" y="1352625"/>
            <a:ext cx="3374400" cy="302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9" name="Google Shape;69;p9"/>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0" name="Shape 70"/>
        <p:cNvGrpSpPr/>
        <p:nvPr/>
      </p:nvGrpSpPr>
      <p:grpSpPr>
        <a:xfrm>
          <a:off x="0" y="0"/>
          <a:ext cx="0" cy="0"/>
          <a:chOff x="0" y="0"/>
          <a:chExt cx="0" cy="0"/>
        </a:xfrm>
      </p:grpSpPr>
      <p:sp>
        <p:nvSpPr>
          <p:cNvPr id="71" name="Google Shape;71;p10"/>
          <p:cNvSpPr txBox="1"/>
          <p:nvPr>
            <p:ph idx="1" type="body"/>
          </p:nvPr>
        </p:nvSpPr>
        <p:spPr>
          <a:xfrm>
            <a:off x="724950" y="4372551"/>
            <a:ext cx="7697400" cy="4605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72" name="Google Shape;72;p10"/>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3"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 name="Google Shape;77;p11"/>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p:nvPr>
            <p:ph idx="1" type="body"/>
          </p:nvPr>
        </p:nvSpPr>
        <p:spPr>
          <a:xfrm>
            <a:off x="729450" y="2272888"/>
            <a:ext cx="7688400" cy="15804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lt1"/>
              </a:buClr>
              <a:buSzPts val="1300"/>
              <a:buChar char="●"/>
              <a:defRPr>
                <a:solidFill>
                  <a:schemeClr val="lt1"/>
                </a:solidFill>
              </a:defRPr>
            </a:lvl1pPr>
            <a:lvl2pPr indent="-298450" lvl="1" marL="914400">
              <a:spcBef>
                <a:spcPts val="0"/>
              </a:spcBef>
              <a:spcAft>
                <a:spcPts val="0"/>
              </a:spcAft>
              <a:buClr>
                <a:schemeClr val="lt1"/>
              </a:buClr>
              <a:buSzPts val="1100"/>
              <a:buChar char="○"/>
              <a:defRPr>
                <a:solidFill>
                  <a:schemeClr val="lt1"/>
                </a:solidFill>
              </a:defRPr>
            </a:lvl2pPr>
            <a:lvl3pPr indent="-298450" lvl="2" marL="1371600">
              <a:spcBef>
                <a:spcPts val="0"/>
              </a:spcBef>
              <a:spcAft>
                <a:spcPts val="0"/>
              </a:spcAft>
              <a:buClr>
                <a:schemeClr val="lt1"/>
              </a:buClr>
              <a:buSzPts val="1100"/>
              <a:buChar char="■"/>
              <a:defRPr>
                <a:solidFill>
                  <a:schemeClr val="lt1"/>
                </a:solidFill>
              </a:defRPr>
            </a:lvl3pPr>
            <a:lvl4pPr indent="-298450" lvl="3" marL="1828800">
              <a:spcBef>
                <a:spcPts val="0"/>
              </a:spcBef>
              <a:spcAft>
                <a:spcPts val="0"/>
              </a:spcAft>
              <a:buClr>
                <a:schemeClr val="lt1"/>
              </a:buClr>
              <a:buSzPts val="1100"/>
              <a:buChar char="●"/>
              <a:defRPr>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8450" lvl="5" marL="2743200">
              <a:spcBef>
                <a:spcPts val="0"/>
              </a:spcBef>
              <a:spcAft>
                <a:spcPts val="0"/>
              </a:spcAft>
              <a:buClr>
                <a:schemeClr val="lt1"/>
              </a:buClr>
              <a:buSzPts val="1100"/>
              <a:buChar char="■"/>
              <a:defRPr>
                <a:solidFill>
                  <a:schemeClr val="lt1"/>
                </a:solidFill>
              </a:defRPr>
            </a:lvl6pPr>
            <a:lvl7pPr indent="-298450" lvl="6" marL="3200400">
              <a:spcBef>
                <a:spcPts val="0"/>
              </a:spcBef>
              <a:spcAft>
                <a:spcPts val="0"/>
              </a:spcAft>
              <a:buClr>
                <a:schemeClr val="lt1"/>
              </a:buClr>
              <a:buSzPts val="1100"/>
              <a:buChar char="●"/>
              <a:defRPr>
                <a:solidFill>
                  <a:schemeClr val="lt1"/>
                </a:solidFill>
              </a:defRPr>
            </a:lvl7pPr>
            <a:lvl8pPr indent="-298450" lvl="7" marL="3657600">
              <a:spcBef>
                <a:spcPts val="0"/>
              </a:spcBef>
              <a:spcAft>
                <a:spcPts val="0"/>
              </a:spcAft>
              <a:buClr>
                <a:schemeClr val="lt1"/>
              </a:buClr>
              <a:buSzPts val="1100"/>
              <a:buChar char="○"/>
              <a:defRPr>
                <a:solidFill>
                  <a:schemeClr val="lt1"/>
                </a:solidFill>
              </a:defRPr>
            </a:lvl8pPr>
            <a:lvl9pPr indent="-298450" lvl="8" marL="4114800">
              <a:spcBef>
                <a:spcPts val="0"/>
              </a:spcBef>
              <a:spcAft>
                <a:spcPts val="0"/>
              </a:spcAft>
              <a:buClr>
                <a:schemeClr val="lt1"/>
              </a:buClr>
              <a:buSzPts val="1100"/>
              <a:buChar char="■"/>
              <a:defRPr>
                <a:solidFill>
                  <a:schemeClr val="lt1"/>
                </a:solidFill>
              </a:defRPr>
            </a:lvl9pPr>
          </a:lstStyle>
          <a:p/>
        </p:txBody>
      </p:sp>
      <p:sp>
        <p:nvSpPr>
          <p:cNvPr id="79" name="Google Shape;79;p11"/>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0" name="Shape 80"/>
        <p:cNvGrpSpPr/>
        <p:nvPr/>
      </p:nvGrpSpPr>
      <p:grpSpPr>
        <a:xfrm>
          <a:off x="0" y="0"/>
          <a:ext cx="0" cy="0"/>
          <a:chOff x="0" y="0"/>
          <a:chExt cx="0" cy="0"/>
        </a:xfrm>
      </p:grpSpPr>
      <p:sp>
        <p:nvSpPr>
          <p:cNvPr id="81" name="Google Shape;81;p1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 name="Google Shape;8;p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3"/>
          <p:cNvSpPr txBox="1"/>
          <p:nvPr>
            <p:ph type="ctrTitle"/>
          </p:nvPr>
        </p:nvSpPr>
        <p:spPr>
          <a:xfrm>
            <a:off x="729625" y="1322450"/>
            <a:ext cx="7688100" cy="1664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Early Results: Sahm and Michez Rule Adjustments for Other Countries</a:t>
            </a:r>
            <a:endParaRPr/>
          </a:p>
        </p:txBody>
      </p:sp>
      <p:sp>
        <p:nvSpPr>
          <p:cNvPr id="87" name="Google Shape;87;p13"/>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solidFill>
                  <a:schemeClr val="dk2"/>
                </a:solidFill>
              </a:rPr>
              <a:t>By: Natalie Parker Blount</a:t>
            </a:r>
            <a:endParaRPr>
              <a:solidFill>
                <a:schemeClr val="dk2"/>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4"/>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Why I Switched My Project: What’s Next</a:t>
            </a:r>
            <a:endParaRPr/>
          </a:p>
        </p:txBody>
      </p:sp>
      <p:sp>
        <p:nvSpPr>
          <p:cNvPr id="93" name="Google Shape;93;p14"/>
          <p:cNvSpPr txBox="1"/>
          <p:nvPr>
            <p:ph idx="1" type="body"/>
          </p:nvPr>
        </p:nvSpPr>
        <p:spPr>
          <a:xfrm>
            <a:off x="729450" y="1853850"/>
            <a:ext cx="7688700" cy="2961000"/>
          </a:xfrm>
          <a:prstGeom prst="rect">
            <a:avLst/>
          </a:prstGeom>
        </p:spPr>
        <p:txBody>
          <a:bodyPr anchorCtr="0" anchor="t" bIns="91425" lIns="91425" spcFirstLastPara="1" rIns="91425" wrap="square" tIns="91425">
            <a:noAutofit/>
          </a:bodyPr>
          <a:lstStyle/>
          <a:p>
            <a:pPr indent="-330200" lvl="0" marL="457200" rtl="0" algn="l">
              <a:spcBef>
                <a:spcPts val="0"/>
              </a:spcBef>
              <a:spcAft>
                <a:spcPts val="0"/>
              </a:spcAft>
              <a:buClr>
                <a:schemeClr val="dk2"/>
              </a:buClr>
              <a:buSzPts val="1600"/>
              <a:buChar char="-"/>
            </a:pPr>
            <a:r>
              <a:rPr lang="en" sz="1600">
                <a:solidFill>
                  <a:schemeClr val="dk2"/>
                </a:solidFill>
              </a:rPr>
              <a:t>Data Sets for Doctor Hiring information too spread out and difficult to get</a:t>
            </a:r>
            <a:endParaRPr sz="1600">
              <a:solidFill>
                <a:schemeClr val="dk2"/>
              </a:solidFill>
            </a:endParaRPr>
          </a:p>
          <a:p>
            <a:pPr indent="-330200" lvl="0" marL="457200" rtl="0" algn="l">
              <a:spcBef>
                <a:spcPts val="0"/>
              </a:spcBef>
              <a:spcAft>
                <a:spcPts val="0"/>
              </a:spcAft>
              <a:buClr>
                <a:schemeClr val="dk2"/>
              </a:buClr>
              <a:buSzPts val="1600"/>
              <a:buChar char="-"/>
            </a:pPr>
            <a:r>
              <a:rPr lang="en" sz="1600">
                <a:solidFill>
                  <a:schemeClr val="dk2"/>
                </a:solidFill>
              </a:rPr>
              <a:t>Too big a project for the time we have</a:t>
            </a:r>
            <a:endParaRPr sz="1600">
              <a:solidFill>
                <a:schemeClr val="dk2"/>
              </a:solidFill>
            </a:endParaRPr>
          </a:p>
          <a:p>
            <a:pPr indent="0" lvl="0" marL="0" rtl="0" algn="l">
              <a:spcBef>
                <a:spcPts val="1200"/>
              </a:spcBef>
              <a:spcAft>
                <a:spcPts val="0"/>
              </a:spcAft>
              <a:buNone/>
            </a:pPr>
            <a:r>
              <a:rPr lang="en" sz="1600">
                <a:solidFill>
                  <a:schemeClr val="dk2"/>
                </a:solidFill>
              </a:rPr>
              <a:t>What I’ve Switched to:</a:t>
            </a:r>
            <a:endParaRPr sz="1600">
              <a:solidFill>
                <a:schemeClr val="dk2"/>
              </a:solidFill>
            </a:endParaRPr>
          </a:p>
          <a:p>
            <a:pPr indent="-330200" lvl="0" marL="457200" rtl="0" algn="l">
              <a:spcBef>
                <a:spcPts val="1200"/>
              </a:spcBef>
              <a:spcAft>
                <a:spcPts val="0"/>
              </a:spcAft>
              <a:buClr>
                <a:schemeClr val="dk2"/>
              </a:buClr>
              <a:buSzPts val="1600"/>
              <a:buChar char="-"/>
            </a:pPr>
            <a:r>
              <a:rPr lang="en" sz="1600">
                <a:solidFill>
                  <a:schemeClr val="dk2"/>
                </a:solidFill>
              </a:rPr>
              <a:t>Study of the Sahm Rule’s accuracy for other countries adjusted for their labor market and circumstances</a:t>
            </a:r>
            <a:endParaRPr sz="1600">
              <a:solidFill>
                <a:schemeClr val="dk2"/>
              </a:solidFill>
            </a:endParaRPr>
          </a:p>
          <a:p>
            <a:pPr indent="-330200" lvl="0" marL="457200" rtl="0" algn="l">
              <a:spcBef>
                <a:spcPts val="0"/>
              </a:spcBef>
              <a:spcAft>
                <a:spcPts val="0"/>
              </a:spcAft>
              <a:buClr>
                <a:schemeClr val="dk2"/>
              </a:buClr>
              <a:buSzPts val="1600"/>
              <a:buChar char="-"/>
            </a:pPr>
            <a:r>
              <a:rPr lang="en" sz="1600">
                <a:solidFill>
                  <a:schemeClr val="dk2"/>
                </a:solidFill>
              </a:rPr>
              <a:t>Study of labor markets in Germany, France, Finland, and Sweden in comparison to recessions over time and the Sahm + Michez Rule’s predictions</a:t>
            </a:r>
            <a:endParaRPr sz="1600">
              <a:solidFill>
                <a:schemeClr val="dk2"/>
              </a:solidFill>
            </a:endParaRPr>
          </a:p>
          <a:p>
            <a:pPr indent="-330200" lvl="0" marL="457200" rtl="0" algn="l">
              <a:spcBef>
                <a:spcPts val="0"/>
              </a:spcBef>
              <a:spcAft>
                <a:spcPts val="0"/>
              </a:spcAft>
              <a:buClr>
                <a:schemeClr val="dk2"/>
              </a:buClr>
              <a:buSzPts val="1600"/>
              <a:buChar char="-"/>
            </a:pPr>
            <a:r>
              <a:rPr lang="en" sz="1600">
                <a:solidFill>
                  <a:schemeClr val="dk2"/>
                </a:solidFill>
              </a:rPr>
              <a:t>Adjusting the Sahm and Michez rule thresholds to work for different countries, labor markets, and circumstances</a:t>
            </a:r>
            <a:endParaRPr sz="1600">
              <a:solidFill>
                <a:schemeClr val="dk2"/>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5"/>
          <p:cNvSpPr txBox="1"/>
          <p:nvPr>
            <p:ph type="title"/>
          </p:nvPr>
        </p:nvSpPr>
        <p:spPr>
          <a:xfrm>
            <a:off x="727650" y="1192975"/>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Research Question &amp; Positioning</a:t>
            </a:r>
            <a:endParaRPr/>
          </a:p>
        </p:txBody>
      </p:sp>
      <p:sp>
        <p:nvSpPr>
          <p:cNvPr id="99" name="Google Shape;99;p15"/>
          <p:cNvSpPr txBox="1"/>
          <p:nvPr>
            <p:ph idx="1" type="body"/>
          </p:nvPr>
        </p:nvSpPr>
        <p:spPr>
          <a:xfrm>
            <a:off x="630975" y="1621825"/>
            <a:ext cx="7688700" cy="2649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rgbClr val="000000"/>
                </a:solidFill>
              </a:rPr>
              <a:t>Question: If adjusted for different labor markets, is the Sahm Rule still effective for predicting recessions? If so, how effective?</a:t>
            </a:r>
            <a:endParaRPr sz="1500">
              <a:solidFill>
                <a:srgbClr val="000000"/>
              </a:solidFill>
            </a:endParaRPr>
          </a:p>
          <a:p>
            <a:pPr indent="-323850" lvl="0" marL="457200" rtl="0" algn="l">
              <a:spcBef>
                <a:spcPts val="1200"/>
              </a:spcBef>
              <a:spcAft>
                <a:spcPts val="0"/>
              </a:spcAft>
              <a:buClr>
                <a:srgbClr val="000000"/>
              </a:buClr>
              <a:buSzPts val="1500"/>
              <a:buChar char="-"/>
            </a:pPr>
            <a:r>
              <a:rPr lang="en" sz="1500">
                <a:solidFill>
                  <a:srgbClr val="000000"/>
                </a:solidFill>
              </a:rPr>
              <a:t>Professor Michaillat and Professor Saez refine the Sahm Rule into the Michez Rule for predicting recessions using the unemployment and vacancy rates, finding it effective in the US</a:t>
            </a:r>
            <a:endParaRPr sz="1500">
              <a:solidFill>
                <a:srgbClr val="000000"/>
              </a:solidFill>
            </a:endParaRPr>
          </a:p>
          <a:p>
            <a:pPr indent="-323850" lvl="0" marL="457200" rtl="0" algn="l">
              <a:spcBef>
                <a:spcPts val="0"/>
              </a:spcBef>
              <a:spcAft>
                <a:spcPts val="0"/>
              </a:spcAft>
              <a:buClr>
                <a:srgbClr val="000000"/>
              </a:buClr>
              <a:buSzPts val="1500"/>
              <a:buChar char="-"/>
            </a:pPr>
            <a:r>
              <a:rPr lang="en" sz="1500">
                <a:solidFill>
                  <a:srgbClr val="000000"/>
                </a:solidFill>
              </a:rPr>
              <a:t>The Economist put out a research paper/study on the Sahm Rule (unadjusted) and it’s ineffectiveness at predicting recessions in other countries</a:t>
            </a:r>
            <a:endParaRPr sz="1500">
              <a:solidFill>
                <a:srgbClr val="000000"/>
              </a:solidFill>
            </a:endParaRPr>
          </a:p>
          <a:p>
            <a:pPr indent="-323850" lvl="0" marL="457200" rtl="0" algn="l">
              <a:spcBef>
                <a:spcPts val="0"/>
              </a:spcBef>
              <a:spcAft>
                <a:spcPts val="0"/>
              </a:spcAft>
              <a:buClr>
                <a:srgbClr val="000000"/>
              </a:buClr>
              <a:buSzPts val="1500"/>
              <a:buChar char="-"/>
            </a:pPr>
            <a:r>
              <a:rPr lang="en" sz="1500">
                <a:solidFill>
                  <a:srgbClr val="000000"/>
                </a:solidFill>
              </a:rPr>
              <a:t>The paper did not make any adjustment to the Rule, so there are two outcomes:</a:t>
            </a:r>
            <a:endParaRPr sz="1500">
              <a:solidFill>
                <a:srgbClr val="000000"/>
              </a:solidFill>
            </a:endParaRPr>
          </a:p>
          <a:p>
            <a:pPr indent="-323850" lvl="0" marL="457200" rtl="0" algn="l">
              <a:spcBef>
                <a:spcPts val="0"/>
              </a:spcBef>
              <a:spcAft>
                <a:spcPts val="0"/>
              </a:spcAft>
              <a:buClr>
                <a:srgbClr val="000000"/>
              </a:buClr>
              <a:buSzPts val="1500"/>
              <a:buAutoNum type="arabicPeriod"/>
            </a:pPr>
            <a:r>
              <a:rPr lang="en" sz="1500">
                <a:solidFill>
                  <a:srgbClr val="000000"/>
                </a:solidFill>
              </a:rPr>
              <a:t>Even when Adjusted, the Sahm Rule is not effective at predicting recessions in other countries</a:t>
            </a:r>
            <a:endParaRPr sz="1500">
              <a:solidFill>
                <a:srgbClr val="000000"/>
              </a:solidFill>
            </a:endParaRPr>
          </a:p>
          <a:p>
            <a:pPr indent="-323850" lvl="0" marL="457200" rtl="0" algn="l">
              <a:spcBef>
                <a:spcPts val="0"/>
              </a:spcBef>
              <a:spcAft>
                <a:spcPts val="0"/>
              </a:spcAft>
              <a:buClr>
                <a:srgbClr val="000000"/>
              </a:buClr>
              <a:buSzPts val="1500"/>
              <a:buAutoNum type="arabicPeriod"/>
            </a:pPr>
            <a:r>
              <a:rPr lang="en" sz="1500">
                <a:solidFill>
                  <a:srgbClr val="000000"/>
                </a:solidFill>
              </a:rPr>
              <a:t>When Adjusted, the Michez Rule is effective at predicting recessions in other countries</a:t>
            </a:r>
            <a:endParaRPr sz="1500">
              <a:solidFill>
                <a:srgbClr val="000000"/>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6"/>
          <p:cNvSpPr txBox="1"/>
          <p:nvPr>
            <p:ph type="title"/>
          </p:nvPr>
        </p:nvSpPr>
        <p:spPr>
          <a:xfrm>
            <a:off x="652125" y="51620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Empirical  and Analytical Approach</a:t>
            </a:r>
            <a:endParaRPr/>
          </a:p>
        </p:txBody>
      </p:sp>
      <p:sp>
        <p:nvSpPr>
          <p:cNvPr id="105" name="Google Shape;105;p16"/>
          <p:cNvSpPr txBox="1"/>
          <p:nvPr>
            <p:ph idx="1" type="body"/>
          </p:nvPr>
        </p:nvSpPr>
        <p:spPr>
          <a:xfrm>
            <a:off x="729450" y="1343875"/>
            <a:ext cx="7688700" cy="3558000"/>
          </a:xfrm>
          <a:prstGeom prst="rect">
            <a:avLst/>
          </a:prstGeom>
        </p:spPr>
        <p:txBody>
          <a:bodyPr anchorCtr="0" anchor="t" bIns="91425" lIns="91425" spcFirstLastPara="1" rIns="91425" wrap="square" tIns="91425">
            <a:normAutofit/>
          </a:bodyPr>
          <a:lstStyle/>
          <a:p>
            <a:pPr indent="-330200" lvl="0" marL="457200" rtl="0" algn="l">
              <a:lnSpc>
                <a:spcPct val="95000"/>
              </a:lnSpc>
              <a:spcBef>
                <a:spcPts val="0"/>
              </a:spcBef>
              <a:spcAft>
                <a:spcPts val="0"/>
              </a:spcAft>
              <a:buClr>
                <a:srgbClr val="000000"/>
              </a:buClr>
              <a:buSzPts val="1600"/>
              <a:buChar char="-"/>
            </a:pPr>
            <a:r>
              <a:rPr lang="en" sz="1600">
                <a:solidFill>
                  <a:srgbClr val="000000"/>
                </a:solidFill>
              </a:rPr>
              <a:t>Sahm and Michez Rule : </a:t>
            </a:r>
            <a:endParaRPr sz="1600">
              <a:solidFill>
                <a:srgbClr val="000000"/>
              </a:solidFill>
            </a:endParaRPr>
          </a:p>
          <a:p>
            <a:pPr indent="-330200" lvl="1" marL="914400" rtl="0" algn="l">
              <a:lnSpc>
                <a:spcPct val="95000"/>
              </a:lnSpc>
              <a:spcBef>
                <a:spcPts val="0"/>
              </a:spcBef>
              <a:spcAft>
                <a:spcPts val="0"/>
              </a:spcAft>
              <a:buClr>
                <a:srgbClr val="000000"/>
              </a:buClr>
              <a:buSzPts val="1600"/>
              <a:buChar char="-"/>
            </a:pPr>
            <a:r>
              <a:rPr lang="en" sz="1600">
                <a:solidFill>
                  <a:srgbClr val="000000"/>
                </a:solidFill>
              </a:rPr>
              <a:t>Sahm: the 3-month avg of unemployment minus its 12-month low</a:t>
            </a:r>
            <a:endParaRPr sz="1600">
              <a:solidFill>
                <a:srgbClr val="000000"/>
              </a:solidFill>
            </a:endParaRPr>
          </a:p>
          <a:p>
            <a:pPr indent="-330200" lvl="1" marL="914400" rtl="0" algn="l">
              <a:lnSpc>
                <a:spcPct val="95000"/>
              </a:lnSpc>
              <a:spcBef>
                <a:spcPts val="0"/>
              </a:spcBef>
              <a:spcAft>
                <a:spcPts val="0"/>
              </a:spcAft>
              <a:buClr>
                <a:srgbClr val="000000"/>
              </a:buClr>
              <a:buSzPts val="1600"/>
              <a:buChar char="-"/>
            </a:pPr>
            <a:r>
              <a:rPr lang="en" sz="1600">
                <a:solidFill>
                  <a:srgbClr val="000000"/>
                </a:solidFill>
              </a:rPr>
              <a:t>Michez: the decline in the 3-month avg of the vacancy rate relative to its 12-month high. (Higher unemployment + lower vacancies) Take the minimum of the two indicators (i.e., the weaker of the two) to define the Michez indicator. This ensures the signal only triggers when both unemployment is rising and vacancies falling (simultaneous stress in labor market).</a:t>
            </a:r>
            <a:endParaRPr sz="1600">
              <a:solidFill>
                <a:srgbClr val="000000"/>
              </a:solidFill>
            </a:endParaRPr>
          </a:p>
          <a:p>
            <a:pPr indent="-330200" lvl="0" marL="457200" rtl="0" algn="l">
              <a:lnSpc>
                <a:spcPct val="95000"/>
              </a:lnSpc>
              <a:spcBef>
                <a:spcPts val="0"/>
              </a:spcBef>
              <a:spcAft>
                <a:spcPts val="0"/>
              </a:spcAft>
              <a:buClr>
                <a:srgbClr val="000000"/>
              </a:buClr>
              <a:buSzPts val="1600"/>
              <a:buChar char="-"/>
            </a:pPr>
            <a:r>
              <a:rPr lang="en" sz="1600">
                <a:solidFill>
                  <a:srgbClr val="000000"/>
                </a:solidFill>
              </a:rPr>
              <a:t>Graphing Recession Trends</a:t>
            </a:r>
            <a:endParaRPr sz="1600">
              <a:solidFill>
                <a:srgbClr val="000000"/>
              </a:solidFill>
            </a:endParaRPr>
          </a:p>
          <a:p>
            <a:pPr indent="-330200" lvl="0" marL="457200" rtl="0" algn="l">
              <a:lnSpc>
                <a:spcPct val="95000"/>
              </a:lnSpc>
              <a:spcBef>
                <a:spcPts val="0"/>
              </a:spcBef>
              <a:spcAft>
                <a:spcPts val="0"/>
              </a:spcAft>
              <a:buClr>
                <a:srgbClr val="000000"/>
              </a:buClr>
              <a:buSzPts val="1600"/>
              <a:buChar char="-"/>
            </a:pPr>
            <a:r>
              <a:rPr lang="en" sz="1600">
                <a:solidFill>
                  <a:srgbClr val="000000"/>
                </a:solidFill>
              </a:rPr>
              <a:t>Adjustments to Sahm and Michez Rules and Thresholds</a:t>
            </a:r>
            <a:endParaRPr sz="1600">
              <a:solidFill>
                <a:srgbClr val="000000"/>
              </a:solidFill>
            </a:endParaRPr>
          </a:p>
          <a:p>
            <a:pPr indent="-330200" lvl="0" marL="457200" rtl="0" algn="l">
              <a:lnSpc>
                <a:spcPct val="95000"/>
              </a:lnSpc>
              <a:spcBef>
                <a:spcPts val="0"/>
              </a:spcBef>
              <a:spcAft>
                <a:spcPts val="0"/>
              </a:spcAft>
              <a:buClr>
                <a:srgbClr val="000000"/>
              </a:buClr>
              <a:buSzPts val="1600"/>
              <a:buChar char="-"/>
            </a:pPr>
            <a:r>
              <a:rPr lang="en" sz="1600">
                <a:solidFill>
                  <a:srgbClr val="000000"/>
                </a:solidFill>
              </a:rPr>
              <a:t>Testing the Adjusted Models and their Accuracy</a:t>
            </a:r>
            <a:endParaRPr sz="1600">
              <a:solidFill>
                <a:srgbClr val="000000"/>
              </a:solidFill>
            </a:endParaRPr>
          </a:p>
          <a:p>
            <a:pPr indent="-330200" lvl="0" marL="457200" rtl="0" algn="l">
              <a:lnSpc>
                <a:spcPct val="95000"/>
              </a:lnSpc>
              <a:spcBef>
                <a:spcPts val="0"/>
              </a:spcBef>
              <a:spcAft>
                <a:spcPts val="0"/>
              </a:spcAft>
              <a:buClr>
                <a:srgbClr val="000000"/>
              </a:buClr>
              <a:buSzPts val="1600"/>
              <a:buChar char="-"/>
            </a:pPr>
            <a:r>
              <a:rPr lang="en" sz="1600">
                <a:solidFill>
                  <a:srgbClr val="000000"/>
                </a:solidFill>
              </a:rPr>
              <a:t>Graphing the predictions and Thresholds vs. Actual Recession Data</a:t>
            </a:r>
            <a:endParaRPr sz="1600">
              <a:solidFill>
                <a:srgbClr val="000000"/>
              </a:solidFill>
            </a:endParaRPr>
          </a:p>
          <a:p>
            <a:pPr indent="-330200" lvl="0" marL="457200" rtl="0" algn="l">
              <a:lnSpc>
                <a:spcPct val="95000"/>
              </a:lnSpc>
              <a:spcBef>
                <a:spcPts val="0"/>
              </a:spcBef>
              <a:spcAft>
                <a:spcPts val="0"/>
              </a:spcAft>
              <a:buClr>
                <a:srgbClr val="000000"/>
              </a:buClr>
              <a:buSzPts val="1600"/>
              <a:buChar char="-"/>
            </a:pPr>
            <a:r>
              <a:rPr lang="en" sz="1600">
                <a:solidFill>
                  <a:srgbClr val="000000"/>
                </a:solidFill>
              </a:rPr>
              <a:t>Data Gathered from OECD on job </a:t>
            </a:r>
            <a:r>
              <a:rPr lang="en" sz="1600">
                <a:solidFill>
                  <a:srgbClr val="000000"/>
                </a:solidFill>
              </a:rPr>
              <a:t>vacancies, recession, and unemployment </a:t>
            </a:r>
            <a:endParaRPr sz="1600">
              <a:solidFill>
                <a:srgbClr val="000000"/>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17"/>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Sahm and Michez Rule Steps</a:t>
            </a:r>
            <a:endParaRPr/>
          </a:p>
        </p:txBody>
      </p:sp>
      <p:sp>
        <p:nvSpPr>
          <p:cNvPr id="111" name="Google Shape;111;p17"/>
          <p:cNvSpPr txBox="1"/>
          <p:nvPr>
            <p:ph idx="1" type="body"/>
          </p:nvPr>
        </p:nvSpPr>
        <p:spPr>
          <a:xfrm>
            <a:off x="729450" y="2078875"/>
            <a:ext cx="7688700" cy="2261100"/>
          </a:xfrm>
          <a:prstGeom prst="rect">
            <a:avLst/>
          </a:prstGeom>
        </p:spPr>
        <p:txBody>
          <a:bodyPr anchorCtr="0" anchor="t" bIns="91425" lIns="91425" spcFirstLastPara="1" rIns="91425" wrap="square" tIns="91425">
            <a:normAutofit lnSpcReduction="10000"/>
          </a:bodyPr>
          <a:lstStyle/>
          <a:p>
            <a:pPr indent="-330200" lvl="0" marL="457200" rtl="0" algn="l">
              <a:spcBef>
                <a:spcPts val="0"/>
              </a:spcBef>
              <a:spcAft>
                <a:spcPts val="0"/>
              </a:spcAft>
              <a:buClr>
                <a:srgbClr val="000000"/>
              </a:buClr>
              <a:buSzPts val="1600"/>
              <a:buChar char="-"/>
            </a:pPr>
            <a:r>
              <a:rPr lang="en" sz="1600">
                <a:solidFill>
                  <a:srgbClr val="000000"/>
                </a:solidFill>
              </a:rPr>
              <a:t>Sahm Rule</a:t>
            </a:r>
            <a:endParaRPr sz="1600">
              <a:solidFill>
                <a:srgbClr val="000000"/>
              </a:solidFill>
            </a:endParaRPr>
          </a:p>
          <a:p>
            <a:pPr indent="-317500" lvl="1" marL="914400" rtl="0" algn="l">
              <a:spcBef>
                <a:spcPts val="0"/>
              </a:spcBef>
              <a:spcAft>
                <a:spcPts val="0"/>
              </a:spcAft>
              <a:buClr>
                <a:srgbClr val="000000"/>
              </a:buClr>
              <a:buSzPts val="1400"/>
              <a:buChar char="-"/>
            </a:pPr>
            <a:r>
              <a:rPr lang="en" sz="1400">
                <a:solidFill>
                  <a:srgbClr val="000000"/>
                </a:solidFill>
              </a:rPr>
              <a:t>[𝑢 bar(𝑡) = 𝑢(𝑡) + 𝑢(𝑡 − 1) + 𝑢(𝑡 − 2) ]/3</a:t>
            </a:r>
            <a:endParaRPr sz="1400">
              <a:solidFill>
                <a:srgbClr val="000000"/>
              </a:solidFill>
            </a:endParaRPr>
          </a:p>
          <a:p>
            <a:pPr indent="-317500" lvl="1" marL="914400" rtl="0" algn="l">
              <a:spcBef>
                <a:spcPts val="0"/>
              </a:spcBef>
              <a:spcAft>
                <a:spcPts val="0"/>
              </a:spcAft>
              <a:buClr>
                <a:srgbClr val="000000"/>
              </a:buClr>
              <a:buSzPts val="1400"/>
              <a:buChar char="-"/>
            </a:pPr>
            <a:r>
              <a:rPr lang="en" sz="1400">
                <a:solidFill>
                  <a:srgbClr val="000000"/>
                </a:solidFill>
              </a:rPr>
              <a:t>𝑢̂(𝑡) = 𝑢 bar (𝑡) − min 0≤𝑠≤12 { 𝑢 bar(𝑡 − 𝑠) }</a:t>
            </a:r>
            <a:endParaRPr sz="1400">
              <a:solidFill>
                <a:srgbClr val="000000"/>
              </a:solidFill>
            </a:endParaRPr>
          </a:p>
          <a:p>
            <a:pPr indent="-330200" lvl="0" marL="457200" rtl="0" algn="l">
              <a:spcBef>
                <a:spcPts val="0"/>
              </a:spcBef>
              <a:spcAft>
                <a:spcPts val="0"/>
              </a:spcAft>
              <a:buClr>
                <a:srgbClr val="000000"/>
              </a:buClr>
              <a:buSzPts val="1600"/>
              <a:buChar char="-"/>
            </a:pPr>
            <a:r>
              <a:rPr lang="en" sz="1600">
                <a:solidFill>
                  <a:srgbClr val="000000"/>
                </a:solidFill>
              </a:rPr>
              <a:t>Michez Rule </a:t>
            </a:r>
            <a:endParaRPr sz="1600">
              <a:solidFill>
                <a:srgbClr val="000000"/>
              </a:solidFill>
            </a:endParaRPr>
          </a:p>
          <a:p>
            <a:pPr indent="-317500" lvl="1" marL="914400" rtl="0" algn="l">
              <a:spcBef>
                <a:spcPts val="0"/>
              </a:spcBef>
              <a:spcAft>
                <a:spcPts val="0"/>
              </a:spcAft>
              <a:buClr>
                <a:srgbClr val="000000"/>
              </a:buClr>
              <a:buSzPts val="1400"/>
              <a:buChar char="-"/>
            </a:pPr>
            <a:r>
              <a:rPr lang="en" sz="1400">
                <a:solidFill>
                  <a:srgbClr val="000000"/>
                </a:solidFill>
              </a:rPr>
              <a:t>𝑣 bar (𝑡) = 𝑣(𝑡) + 𝑣(𝑡 − 1) + 𝑣(𝑡 − 2) 3</a:t>
            </a:r>
            <a:endParaRPr sz="1400">
              <a:solidFill>
                <a:srgbClr val="000000"/>
              </a:solidFill>
            </a:endParaRPr>
          </a:p>
          <a:p>
            <a:pPr indent="-317500" lvl="1" marL="914400" rtl="0" algn="l">
              <a:spcBef>
                <a:spcPts val="0"/>
              </a:spcBef>
              <a:spcAft>
                <a:spcPts val="0"/>
              </a:spcAft>
              <a:buClr>
                <a:srgbClr val="000000"/>
              </a:buClr>
              <a:buSzPts val="1400"/>
              <a:buChar char="-"/>
            </a:pPr>
            <a:r>
              <a:rPr lang="en" sz="1400">
                <a:solidFill>
                  <a:srgbClr val="000000"/>
                </a:solidFill>
              </a:rPr>
              <a:t>𝑣̂(𝑡) = max 0≤𝑠≤12 { 𝑣 bar(𝑡 − 𝑠) } − 𝑣 bar(𝑡)</a:t>
            </a:r>
            <a:endParaRPr sz="1400">
              <a:solidFill>
                <a:srgbClr val="000000"/>
              </a:solidFill>
            </a:endParaRPr>
          </a:p>
          <a:p>
            <a:pPr indent="-317500" lvl="0" marL="457200" rtl="0" algn="l">
              <a:spcBef>
                <a:spcPts val="0"/>
              </a:spcBef>
              <a:spcAft>
                <a:spcPts val="0"/>
              </a:spcAft>
              <a:buClr>
                <a:srgbClr val="000000"/>
              </a:buClr>
              <a:buSzPts val="1400"/>
              <a:buChar char="-"/>
            </a:pPr>
            <a:r>
              <a:rPr lang="en" sz="1400">
                <a:solidFill>
                  <a:srgbClr val="000000"/>
                </a:solidFill>
              </a:rPr>
              <a:t>Compare results of this test to the timeline of known recessions and adjust the </a:t>
            </a:r>
            <a:r>
              <a:rPr lang="en" sz="1400">
                <a:solidFill>
                  <a:srgbClr val="000000"/>
                </a:solidFill>
              </a:rPr>
              <a:t>threshold</a:t>
            </a:r>
            <a:r>
              <a:rPr lang="en" sz="1400">
                <a:solidFill>
                  <a:srgbClr val="000000"/>
                </a:solidFill>
              </a:rPr>
              <a:t> based on those results. If the analysis shows consistent results with the new threshold then the model does work to predict recessions in other countries if adjusted. </a:t>
            </a:r>
            <a:endParaRPr sz="1400">
              <a:solidFill>
                <a:srgbClr val="000000"/>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18"/>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Data Presentation</a:t>
            </a:r>
            <a:endParaRPr/>
          </a:p>
        </p:txBody>
      </p:sp>
      <p:sp>
        <p:nvSpPr>
          <p:cNvPr id="117" name="Google Shape;117;p18"/>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AutoNum type="arabicPeriod"/>
            </a:pPr>
            <a:r>
              <a:rPr lang="en"/>
              <a:t>Graph the Recessions for each country </a:t>
            </a:r>
            <a:endParaRPr/>
          </a:p>
          <a:p>
            <a:pPr indent="-311150" lvl="0" marL="457200" rtl="0" algn="l">
              <a:spcBef>
                <a:spcPts val="0"/>
              </a:spcBef>
              <a:spcAft>
                <a:spcPts val="0"/>
              </a:spcAft>
              <a:buSzPts val="1300"/>
              <a:buAutoNum type="arabicPeriod"/>
            </a:pPr>
            <a:r>
              <a:rPr lang="en"/>
              <a:t>Graph the Michez and Sahm Rule indicators against the Recession Graphs before adjustment</a:t>
            </a:r>
            <a:endParaRPr/>
          </a:p>
          <a:p>
            <a:pPr indent="-311150" lvl="0" marL="457200" rtl="0" algn="l">
              <a:spcBef>
                <a:spcPts val="0"/>
              </a:spcBef>
              <a:spcAft>
                <a:spcPts val="0"/>
              </a:spcAft>
              <a:buSzPts val="1300"/>
              <a:buAutoNum type="arabicPeriod"/>
            </a:pPr>
            <a:r>
              <a:rPr lang="en"/>
              <a:t>Graph the Michez and Sahm Rule indicators against the Recession Graphs after adjustment </a:t>
            </a:r>
            <a:endParaRPr/>
          </a:p>
          <a:p>
            <a:pPr indent="0" lvl="0" marL="0" rtl="0" algn="l">
              <a:spcBef>
                <a:spcPts val="1200"/>
              </a:spcBef>
              <a:spcAft>
                <a:spcPts val="0"/>
              </a:spcAft>
              <a:buNone/>
            </a:pPr>
            <a:r>
              <a:rPr lang="en"/>
              <a:t>(All graphs are adjusted with available dates and accessibility of </a:t>
            </a:r>
            <a:r>
              <a:rPr lang="en"/>
              <a:t>the</a:t>
            </a:r>
            <a:r>
              <a:rPr lang="en"/>
              <a:t> </a:t>
            </a:r>
            <a:r>
              <a:rPr lang="en"/>
              <a:t>different</a:t>
            </a:r>
            <a:r>
              <a:rPr lang="en"/>
              <a:t> data, time series for some is longer or shorter depending on accuracy of record)</a:t>
            </a:r>
            <a:endParaRPr/>
          </a:p>
          <a:p>
            <a:pPr indent="0" lvl="0" marL="0" rtl="0" algn="l">
              <a:spcBef>
                <a:spcPts val="1200"/>
              </a:spcBef>
              <a:spcAft>
                <a:spcPts val="120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19"/>
          <p:cNvSpPr txBox="1"/>
          <p:nvPr>
            <p:ph type="title"/>
          </p:nvPr>
        </p:nvSpPr>
        <p:spPr>
          <a:xfrm>
            <a:off x="217050" y="5258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Presentation of Data</a:t>
            </a:r>
            <a:endParaRPr/>
          </a:p>
        </p:txBody>
      </p:sp>
      <p:sp>
        <p:nvSpPr>
          <p:cNvPr id="123" name="Google Shape;123;p19"/>
          <p:cNvSpPr txBox="1"/>
          <p:nvPr>
            <p:ph idx="1" type="body"/>
          </p:nvPr>
        </p:nvSpPr>
        <p:spPr>
          <a:xfrm>
            <a:off x="294350" y="4515250"/>
            <a:ext cx="7688700" cy="535200"/>
          </a:xfrm>
          <a:prstGeom prst="rect">
            <a:avLst/>
          </a:prstGeom>
        </p:spPr>
        <p:txBody>
          <a:bodyPr anchorCtr="0" anchor="t" bIns="91425" lIns="91425" spcFirstLastPara="1" rIns="91425" wrap="square" tIns="91425">
            <a:normAutofit fontScale="92500" lnSpcReduction="20000"/>
          </a:bodyPr>
          <a:lstStyle/>
          <a:p>
            <a:pPr indent="-304958" lvl="0" marL="457200" rtl="0" algn="l">
              <a:spcBef>
                <a:spcPts val="0"/>
              </a:spcBef>
              <a:spcAft>
                <a:spcPts val="0"/>
              </a:spcAft>
              <a:buSzPct val="100000"/>
              <a:buChar char="-"/>
            </a:pPr>
            <a:r>
              <a:rPr lang="en"/>
              <a:t>Recession Data Chart for France: Will add Michez Rule and Sahm Rule unadjusted and adjusted to similar graphs for each country</a:t>
            </a:r>
            <a:endParaRPr/>
          </a:p>
        </p:txBody>
      </p:sp>
      <p:pic>
        <p:nvPicPr>
          <p:cNvPr id="124" name="Google Shape;124;p19" title="chart.png"/>
          <p:cNvPicPr preferRelativeResize="0"/>
          <p:nvPr/>
        </p:nvPicPr>
        <p:blipFill>
          <a:blip r:embed="rId3">
            <a:alphaModFix/>
          </a:blip>
          <a:stretch>
            <a:fillRect/>
          </a:stretch>
        </p:blipFill>
        <p:spPr>
          <a:xfrm>
            <a:off x="522150" y="1372900"/>
            <a:ext cx="5238499" cy="32581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0"/>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Hurdles and Next Steps</a:t>
            </a:r>
            <a:endParaRPr/>
          </a:p>
        </p:txBody>
      </p:sp>
      <p:sp>
        <p:nvSpPr>
          <p:cNvPr id="130" name="Google Shape;130;p20"/>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Clr>
                <a:schemeClr val="dk2"/>
              </a:buClr>
              <a:buSzPts val="1600"/>
              <a:buChar char="●"/>
            </a:pPr>
            <a:r>
              <a:rPr lang="en" sz="1600">
                <a:solidFill>
                  <a:schemeClr val="dk2"/>
                </a:solidFill>
              </a:rPr>
              <a:t>Starting my project over has taken a lot of time so I’m rather behind, but my data is gathered</a:t>
            </a:r>
            <a:endParaRPr sz="1600">
              <a:solidFill>
                <a:schemeClr val="dk2"/>
              </a:solidFill>
            </a:endParaRPr>
          </a:p>
          <a:p>
            <a:pPr indent="-330200" lvl="0" marL="457200" rtl="0" algn="l">
              <a:spcBef>
                <a:spcPts val="0"/>
              </a:spcBef>
              <a:spcAft>
                <a:spcPts val="0"/>
              </a:spcAft>
              <a:buClr>
                <a:schemeClr val="dk2"/>
              </a:buClr>
              <a:buSzPts val="1600"/>
              <a:buChar char="●"/>
            </a:pPr>
            <a:r>
              <a:rPr lang="en" sz="1600">
                <a:solidFill>
                  <a:schemeClr val="dk2"/>
                </a:solidFill>
              </a:rPr>
              <a:t>Need to apply and adjust the Michez rule and Sahm rule</a:t>
            </a:r>
            <a:endParaRPr sz="1600">
              <a:solidFill>
                <a:schemeClr val="dk2"/>
              </a:solidFill>
            </a:endParaRPr>
          </a:p>
          <a:p>
            <a:pPr indent="-330200" lvl="0" marL="457200" rtl="0" algn="l">
              <a:spcBef>
                <a:spcPts val="0"/>
              </a:spcBef>
              <a:spcAft>
                <a:spcPts val="0"/>
              </a:spcAft>
              <a:buClr>
                <a:schemeClr val="dk2"/>
              </a:buClr>
              <a:buSzPts val="1600"/>
              <a:buChar char="●"/>
            </a:pPr>
            <a:r>
              <a:rPr lang="en" sz="1600">
                <a:solidFill>
                  <a:schemeClr val="dk2"/>
                </a:solidFill>
              </a:rPr>
              <a:t>Need to Graph them together properly </a:t>
            </a:r>
            <a:endParaRPr sz="1600">
              <a:solidFill>
                <a:schemeClr val="dk2"/>
              </a:solidFill>
            </a:endParaRPr>
          </a:p>
          <a:p>
            <a:pPr indent="-330200" lvl="0" marL="457200" rtl="0" algn="l">
              <a:spcBef>
                <a:spcPts val="0"/>
              </a:spcBef>
              <a:spcAft>
                <a:spcPts val="0"/>
              </a:spcAft>
              <a:buClr>
                <a:schemeClr val="dk2"/>
              </a:buClr>
              <a:buSzPts val="1600"/>
              <a:buChar char="●"/>
            </a:pPr>
            <a:r>
              <a:rPr lang="en" sz="1600">
                <a:solidFill>
                  <a:schemeClr val="dk2"/>
                </a:solidFill>
              </a:rPr>
              <a:t>Finally write my paper, </a:t>
            </a:r>
            <a:r>
              <a:rPr lang="en" sz="1600">
                <a:solidFill>
                  <a:schemeClr val="dk2"/>
                </a:solidFill>
              </a:rPr>
              <a:t>conclusions</a:t>
            </a:r>
            <a:r>
              <a:rPr lang="en" sz="1600">
                <a:solidFill>
                  <a:schemeClr val="dk2"/>
                </a:solidFill>
              </a:rPr>
              <a:t>, possible mistakes or errors, and make my final results </a:t>
            </a:r>
            <a:r>
              <a:rPr lang="en" sz="1600">
                <a:solidFill>
                  <a:schemeClr val="dk2"/>
                </a:solidFill>
              </a:rPr>
              <a:t>project!</a:t>
            </a:r>
            <a:endParaRPr sz="1600">
              <a:solidFill>
                <a:schemeClr val="dk2"/>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