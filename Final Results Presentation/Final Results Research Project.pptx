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9e3523f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9e3523f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3cef4a08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3cef4a08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3cef4a08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3cef4a08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3cef4a08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3cef4a08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3cef4a08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3cef4a08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3cef4a08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3cef4a08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3cef4a08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3cef4a08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3cef4a08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3cef4a08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3cef4a08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3cef4a08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3cef4a08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3cef4a08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3cef4a08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3cef4a08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2512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900">
                <a:latin typeface="Lato"/>
                <a:ea typeface="Lato"/>
                <a:cs typeface="Lato"/>
                <a:sym typeface="Lato"/>
              </a:rPr>
              <a:t>Sahm and Michez Rule Applied to Multiple Countries</a:t>
            </a:r>
            <a:endParaRPr sz="3900">
              <a:latin typeface="Lato"/>
              <a:ea typeface="Lato"/>
              <a:cs typeface="Lato"/>
              <a:sym typeface="Lato"/>
            </a:endParaRPr>
          </a:p>
        </p:txBody>
      </p:sp>
      <p:sp>
        <p:nvSpPr>
          <p:cNvPr id="55" name="Google Shape;55;p13"/>
          <p:cNvSpPr txBox="1"/>
          <p:nvPr>
            <p:ph idx="1" type="subTitle"/>
          </p:nvPr>
        </p:nvSpPr>
        <p:spPr>
          <a:xfrm>
            <a:off x="311700" y="2834125"/>
            <a:ext cx="8520600" cy="218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latin typeface="Lato"/>
                <a:ea typeface="Lato"/>
                <a:cs typeface="Lato"/>
                <a:sym typeface="Lato"/>
              </a:rPr>
              <a:t>Natalie Parker Blount</a:t>
            </a:r>
            <a:endParaRPr sz="1700">
              <a:solidFill>
                <a:schemeClr val="dk1"/>
              </a:solidFill>
              <a:latin typeface="Lato"/>
              <a:ea typeface="Lato"/>
              <a:cs typeface="Lato"/>
              <a:sym typeface="Lato"/>
            </a:endParaRPr>
          </a:p>
          <a:p>
            <a:pPr indent="0" lvl="0" marL="0" rtl="0" algn="l">
              <a:spcBef>
                <a:spcPts val="0"/>
              </a:spcBef>
              <a:spcAft>
                <a:spcPts val="0"/>
              </a:spcAft>
              <a:buNone/>
            </a:pPr>
            <a:r>
              <a:t/>
            </a:r>
            <a:endParaRPr sz="1700">
              <a:solidFill>
                <a:schemeClr val="dk1"/>
              </a:solidFill>
              <a:latin typeface="Lato"/>
              <a:ea typeface="Lato"/>
              <a:cs typeface="Lato"/>
              <a:sym typeface="Lato"/>
            </a:endParaRPr>
          </a:p>
          <a:p>
            <a:pPr indent="0" lvl="0" marL="0" rtl="0" algn="l">
              <a:spcBef>
                <a:spcPts val="0"/>
              </a:spcBef>
              <a:spcAft>
                <a:spcPts val="0"/>
              </a:spcAft>
              <a:buNone/>
            </a:pPr>
            <a:r>
              <a:rPr lang="en" sz="1700">
                <a:solidFill>
                  <a:schemeClr val="dk1"/>
                </a:solidFill>
                <a:latin typeface="Lato"/>
                <a:ea typeface="Lato"/>
                <a:cs typeface="Lato"/>
                <a:sym typeface="Lato"/>
              </a:rPr>
              <a:t>University of California Santa Cruz December 2025</a:t>
            </a:r>
            <a:endParaRPr sz="1700">
              <a:solidFill>
                <a:schemeClr val="dk1"/>
              </a:solidFill>
              <a:latin typeface="Lato"/>
              <a:ea typeface="Lato"/>
              <a:cs typeface="Lato"/>
              <a:sym typeface="Lato"/>
            </a:endParaRPr>
          </a:p>
          <a:p>
            <a:pPr indent="0" lvl="0" marL="0" rtl="0" algn="l">
              <a:spcBef>
                <a:spcPts val="0"/>
              </a:spcBef>
              <a:spcAft>
                <a:spcPts val="0"/>
              </a:spcAft>
              <a:buNone/>
            </a:pPr>
            <a:r>
              <a:t/>
            </a:r>
            <a:endParaRPr sz="1700">
              <a:solidFill>
                <a:schemeClr val="dk1"/>
              </a:solidFill>
              <a:latin typeface="Lato"/>
              <a:ea typeface="Lato"/>
              <a:cs typeface="Lato"/>
              <a:sym typeface="Lato"/>
            </a:endParaRPr>
          </a:p>
          <a:p>
            <a:pPr indent="0" lvl="0" marL="0" rtl="0" algn="l">
              <a:spcBef>
                <a:spcPts val="0"/>
              </a:spcBef>
              <a:spcAft>
                <a:spcPts val="0"/>
              </a:spcAft>
              <a:buNone/>
            </a:pPr>
            <a:r>
              <a:rPr lang="en" sz="1700">
                <a:solidFill>
                  <a:schemeClr val="dk1"/>
                </a:solidFill>
                <a:latin typeface="Lato"/>
                <a:ea typeface="Lato"/>
                <a:cs typeface="Lato"/>
                <a:sym typeface="Lato"/>
              </a:rPr>
              <a:t>Available At: </a:t>
            </a:r>
            <a:endParaRPr sz="1700">
              <a:solidFill>
                <a:schemeClr val="dk1"/>
              </a:solidFill>
              <a:latin typeface="Lato"/>
              <a:ea typeface="Lato"/>
              <a:cs typeface="Lato"/>
              <a:sym typeface="Lato"/>
            </a:endParaRPr>
          </a:p>
        </p:txBody>
      </p:sp>
      <p:cxnSp>
        <p:nvCxnSpPr>
          <p:cNvPr id="56" name="Google Shape;56;p13"/>
          <p:cNvCxnSpPr/>
          <p:nvPr/>
        </p:nvCxnSpPr>
        <p:spPr>
          <a:xfrm>
            <a:off x="715450" y="1914300"/>
            <a:ext cx="7647600" cy="9600"/>
          </a:xfrm>
          <a:prstGeom prst="straightConnector1">
            <a:avLst/>
          </a:prstGeom>
          <a:noFill/>
          <a:ln cap="flat" cmpd="sng" w="114300">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Question Review</a:t>
            </a:r>
            <a:endParaRPr>
              <a:latin typeface="Lato"/>
              <a:ea typeface="Lato"/>
              <a:cs typeface="Lato"/>
              <a:sym typeface="Lato"/>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778">
                <a:solidFill>
                  <a:schemeClr val="dk1"/>
                </a:solidFill>
                <a:latin typeface="Lato"/>
                <a:ea typeface="Lato"/>
                <a:cs typeface="Lato"/>
                <a:sym typeface="Lato"/>
              </a:rPr>
              <a:t>Question: If adjusted for different labor markets, are the Sahm and Michez Rules still effective for predicting recessions? If so, how effective?</a:t>
            </a:r>
            <a:endParaRPr sz="5778">
              <a:solidFill>
                <a:schemeClr val="dk1"/>
              </a:solidFill>
              <a:latin typeface="Lato"/>
              <a:ea typeface="Lato"/>
              <a:cs typeface="Lato"/>
              <a:sym typeface="Lato"/>
            </a:endParaRPr>
          </a:p>
          <a:p>
            <a:pPr indent="-320329" lvl="0" marL="457200" rtl="0" algn="l">
              <a:lnSpc>
                <a:spcPct val="200000"/>
              </a:lnSpc>
              <a:spcBef>
                <a:spcPts val="1200"/>
              </a:spcBef>
              <a:spcAft>
                <a:spcPts val="0"/>
              </a:spcAft>
              <a:buClr>
                <a:schemeClr val="dk1"/>
              </a:buClr>
              <a:buSzPct val="100000"/>
              <a:buFont typeface="Lato"/>
              <a:buChar char="-"/>
            </a:pPr>
            <a:r>
              <a:rPr lang="en" sz="5778">
                <a:solidFill>
                  <a:schemeClr val="dk1"/>
                </a:solidFill>
                <a:latin typeface="Lato"/>
                <a:ea typeface="Lato"/>
                <a:cs typeface="Lato"/>
                <a:sym typeface="Lato"/>
              </a:rPr>
              <a:t>Professor Michaillat and Professor Saez refine the Sahm Rule into the Michez Rule for predicting recessions using the unemployment and vacancy rates, finding it effective in the US</a:t>
            </a:r>
            <a:endParaRPr sz="5778">
              <a:solidFill>
                <a:schemeClr val="dk1"/>
              </a:solidFill>
              <a:latin typeface="Lato"/>
              <a:ea typeface="Lato"/>
              <a:cs typeface="Lato"/>
              <a:sym typeface="Lato"/>
            </a:endParaRPr>
          </a:p>
          <a:p>
            <a:pPr indent="-320329" lvl="0" marL="457200" rtl="0" algn="l">
              <a:lnSpc>
                <a:spcPct val="200000"/>
              </a:lnSpc>
              <a:spcBef>
                <a:spcPts val="0"/>
              </a:spcBef>
              <a:spcAft>
                <a:spcPts val="0"/>
              </a:spcAft>
              <a:buClr>
                <a:schemeClr val="dk1"/>
              </a:buClr>
              <a:buSzPct val="100000"/>
              <a:buFont typeface="Lato"/>
              <a:buChar char="-"/>
            </a:pPr>
            <a:r>
              <a:rPr lang="en" sz="5778">
                <a:solidFill>
                  <a:schemeClr val="dk1"/>
                </a:solidFill>
                <a:latin typeface="Lato"/>
                <a:ea typeface="Lato"/>
                <a:cs typeface="Lato"/>
                <a:sym typeface="Lato"/>
              </a:rPr>
              <a:t>The Economist put out a research paper/study on the Sahm Rule (unadjusted) and it’s ineffectiveness at predicting recessions in other countries</a:t>
            </a:r>
            <a:endParaRPr sz="5778">
              <a:solidFill>
                <a:schemeClr val="dk1"/>
              </a:solidFill>
              <a:latin typeface="Lato"/>
              <a:ea typeface="Lato"/>
              <a:cs typeface="Lato"/>
              <a:sym typeface="Lato"/>
            </a:endParaRPr>
          </a:p>
          <a:p>
            <a:pPr indent="-320329" lvl="0" marL="457200" rtl="0" algn="l">
              <a:lnSpc>
                <a:spcPct val="200000"/>
              </a:lnSpc>
              <a:spcBef>
                <a:spcPts val="0"/>
              </a:spcBef>
              <a:spcAft>
                <a:spcPts val="0"/>
              </a:spcAft>
              <a:buClr>
                <a:schemeClr val="dk1"/>
              </a:buClr>
              <a:buSzPct val="100000"/>
              <a:buFont typeface="Lato"/>
              <a:buChar char="-"/>
            </a:pPr>
            <a:r>
              <a:rPr lang="en" sz="5778">
                <a:solidFill>
                  <a:schemeClr val="dk1"/>
                </a:solidFill>
                <a:latin typeface="Lato"/>
                <a:ea typeface="Lato"/>
                <a:cs typeface="Lato"/>
                <a:sym typeface="Lato"/>
              </a:rPr>
              <a:t>The paper did not make any adjustment to the Rule, so there are two outcomes:</a:t>
            </a:r>
            <a:endParaRPr sz="5778">
              <a:solidFill>
                <a:schemeClr val="dk1"/>
              </a:solidFill>
              <a:latin typeface="Lato"/>
              <a:ea typeface="Lato"/>
              <a:cs typeface="Lato"/>
              <a:sym typeface="Lato"/>
            </a:endParaRPr>
          </a:p>
          <a:p>
            <a:pPr indent="-320329" lvl="0" marL="457200" rtl="0" algn="l">
              <a:lnSpc>
                <a:spcPct val="200000"/>
              </a:lnSpc>
              <a:spcBef>
                <a:spcPts val="0"/>
              </a:spcBef>
              <a:spcAft>
                <a:spcPts val="0"/>
              </a:spcAft>
              <a:buClr>
                <a:schemeClr val="dk1"/>
              </a:buClr>
              <a:buSzPct val="100000"/>
              <a:buFont typeface="Lato"/>
              <a:buAutoNum type="arabicPeriod"/>
            </a:pPr>
            <a:r>
              <a:rPr lang="en" sz="5778">
                <a:solidFill>
                  <a:schemeClr val="dk1"/>
                </a:solidFill>
                <a:latin typeface="Lato"/>
                <a:ea typeface="Lato"/>
                <a:cs typeface="Lato"/>
                <a:sym typeface="Lato"/>
              </a:rPr>
              <a:t>Even when Adjusted, the Sahm Rule is not effective at predicting recessions in other countries</a:t>
            </a:r>
            <a:endParaRPr sz="5778">
              <a:solidFill>
                <a:schemeClr val="dk1"/>
              </a:solidFill>
              <a:latin typeface="Lato"/>
              <a:ea typeface="Lato"/>
              <a:cs typeface="Lato"/>
              <a:sym typeface="Lato"/>
            </a:endParaRPr>
          </a:p>
          <a:p>
            <a:pPr indent="-320329" lvl="0" marL="457200" rtl="0" algn="l">
              <a:lnSpc>
                <a:spcPct val="200000"/>
              </a:lnSpc>
              <a:spcBef>
                <a:spcPts val="0"/>
              </a:spcBef>
              <a:spcAft>
                <a:spcPts val="0"/>
              </a:spcAft>
              <a:buClr>
                <a:schemeClr val="dk1"/>
              </a:buClr>
              <a:buSzPct val="100000"/>
              <a:buFont typeface="Lato"/>
              <a:buAutoNum type="arabicPeriod"/>
            </a:pPr>
            <a:r>
              <a:rPr lang="en" sz="5778">
                <a:solidFill>
                  <a:schemeClr val="dk1"/>
                </a:solidFill>
                <a:latin typeface="Lato"/>
                <a:ea typeface="Lato"/>
                <a:cs typeface="Lato"/>
                <a:sym typeface="Lato"/>
              </a:rPr>
              <a:t>When Adjusted, the Michez Rule is effective at predicting recessions in other countries</a:t>
            </a:r>
            <a:endParaRPr sz="5778">
              <a:solidFill>
                <a:schemeClr val="dk1"/>
              </a:solidFill>
              <a:latin typeface="Lato"/>
              <a:ea typeface="Lato"/>
              <a:cs typeface="Lato"/>
              <a:sym typeface="Lato"/>
            </a:endParaRPr>
          </a:p>
          <a:p>
            <a:pPr indent="0" lvl="0" marL="0" rtl="0" algn="l">
              <a:spcBef>
                <a:spcPts val="1200"/>
              </a:spcBef>
              <a:spcAft>
                <a:spcPts val="0"/>
              </a:spcAft>
              <a:buClr>
                <a:schemeClr val="dk1"/>
              </a:buClr>
              <a:buSzPct val="73333"/>
              <a:buFont typeface="Arial"/>
              <a:buNone/>
            </a:pPr>
            <a:r>
              <a:t/>
            </a:r>
            <a:endParaRPr sz="1500">
              <a:solidFill>
                <a:schemeClr val="dk1"/>
              </a:solidFill>
              <a:latin typeface="Lato"/>
              <a:ea typeface="Lato"/>
              <a:cs typeface="Lato"/>
              <a:sym typeface="Lato"/>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Positioning</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68" name="Google Shape;68;p15"/>
          <p:cNvSpPr txBox="1"/>
          <p:nvPr>
            <p:ph idx="1" type="body"/>
          </p:nvPr>
        </p:nvSpPr>
        <p:spPr>
          <a:xfrm>
            <a:off x="311700" y="1152475"/>
            <a:ext cx="8520600" cy="388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2"/>
              <a:buNone/>
            </a:pPr>
            <a:r>
              <a:rPr lang="en" sz="1495">
                <a:solidFill>
                  <a:schemeClr val="dk1"/>
                </a:solidFill>
                <a:latin typeface="Lato"/>
                <a:ea typeface="Lato"/>
                <a:cs typeface="Lato"/>
                <a:sym typeface="Lato"/>
              </a:rPr>
              <a:t>(Pascal Michaillat 1 | Emmanuel Saez 2 2025)</a:t>
            </a:r>
            <a:endParaRPr sz="1495">
              <a:solidFill>
                <a:schemeClr val="dk1"/>
              </a:solidFill>
              <a:latin typeface="Lato"/>
              <a:ea typeface="Lato"/>
              <a:cs typeface="Lato"/>
              <a:sym typeface="Lato"/>
            </a:endParaRPr>
          </a:p>
          <a:p>
            <a:pPr indent="-323532" lvl="0" marL="457200" rtl="0" algn="l">
              <a:spcBef>
                <a:spcPts val="1200"/>
              </a:spcBef>
              <a:spcAft>
                <a:spcPts val="0"/>
              </a:spcAft>
              <a:buClr>
                <a:schemeClr val="dk1"/>
              </a:buClr>
              <a:buSzPts val="1495"/>
              <a:buFont typeface="Lato"/>
              <a:buChar char="●"/>
            </a:pPr>
            <a:r>
              <a:rPr lang="en" sz="1495">
                <a:solidFill>
                  <a:schemeClr val="dk1"/>
                </a:solidFill>
                <a:latin typeface="Lato"/>
                <a:ea typeface="Lato"/>
                <a:cs typeface="Lato"/>
                <a:sym typeface="Lato"/>
              </a:rPr>
              <a:t>Outlines the basis for my paper by setting up the mathematical equations for using the three month trailing average of vacancy rates and unemployment rates with thresholds to predict recessions. Creating the Michez Rule</a:t>
            </a:r>
            <a:endParaRPr sz="1495">
              <a:solidFill>
                <a:schemeClr val="dk1"/>
              </a:solidFill>
              <a:latin typeface="Lato"/>
              <a:ea typeface="Lato"/>
              <a:cs typeface="Lato"/>
              <a:sym typeface="Lato"/>
            </a:endParaRPr>
          </a:p>
          <a:p>
            <a:pPr indent="0" lvl="0" marL="0" rtl="0" algn="l">
              <a:spcBef>
                <a:spcPts val="1200"/>
              </a:spcBef>
              <a:spcAft>
                <a:spcPts val="0"/>
              </a:spcAft>
              <a:buSzPts val="852"/>
              <a:buNone/>
            </a:pPr>
            <a:r>
              <a:rPr lang="en" sz="1495">
                <a:solidFill>
                  <a:schemeClr val="dk1"/>
                </a:solidFill>
                <a:latin typeface="Lato"/>
                <a:ea typeface="Lato"/>
                <a:cs typeface="Lato"/>
                <a:sym typeface="Lato"/>
              </a:rPr>
              <a:t>(</a:t>
            </a:r>
            <a:r>
              <a:rPr lang="en" sz="1495">
                <a:solidFill>
                  <a:schemeClr val="dk1"/>
                </a:solidFill>
                <a:latin typeface="Lato"/>
                <a:ea typeface="Lato"/>
                <a:cs typeface="Lato"/>
                <a:sym typeface="Lato"/>
              </a:rPr>
              <a:t>David G. Blanchflower And Alex Bryson 2022)</a:t>
            </a:r>
            <a:endParaRPr sz="1495">
              <a:solidFill>
                <a:schemeClr val="dk1"/>
              </a:solidFill>
              <a:latin typeface="Lato"/>
              <a:ea typeface="Lato"/>
              <a:cs typeface="Lato"/>
              <a:sym typeface="Lato"/>
            </a:endParaRPr>
          </a:p>
          <a:p>
            <a:pPr indent="-323532" lvl="0" marL="457200" rtl="0" algn="l">
              <a:spcBef>
                <a:spcPts val="1200"/>
              </a:spcBef>
              <a:spcAft>
                <a:spcPts val="0"/>
              </a:spcAft>
              <a:buClr>
                <a:schemeClr val="dk1"/>
              </a:buClr>
              <a:buSzPts val="1495"/>
              <a:buFont typeface="Lato"/>
              <a:buChar char="●"/>
            </a:pPr>
            <a:r>
              <a:rPr lang="en" sz="1495">
                <a:solidFill>
                  <a:schemeClr val="dk1"/>
                </a:solidFill>
                <a:latin typeface="Lato"/>
                <a:ea typeface="Lato"/>
                <a:cs typeface="Lato"/>
                <a:sym typeface="Lato"/>
              </a:rPr>
              <a:t>Applies the Sahm Rule with adjustments to OECD countries </a:t>
            </a:r>
            <a:endParaRPr sz="1495">
              <a:solidFill>
                <a:schemeClr val="dk1"/>
              </a:solidFill>
              <a:latin typeface="Lato"/>
              <a:ea typeface="Lato"/>
              <a:cs typeface="Lato"/>
              <a:sym typeface="Lato"/>
            </a:endParaRPr>
          </a:p>
          <a:p>
            <a:pPr indent="-323532" lvl="0" marL="457200" rtl="0" algn="l">
              <a:spcBef>
                <a:spcPts val="0"/>
              </a:spcBef>
              <a:spcAft>
                <a:spcPts val="0"/>
              </a:spcAft>
              <a:buClr>
                <a:schemeClr val="dk1"/>
              </a:buClr>
              <a:buSzPts val="1495"/>
              <a:buFont typeface="Lato"/>
              <a:buChar char="●"/>
            </a:pPr>
            <a:r>
              <a:rPr lang="en" sz="1495">
                <a:solidFill>
                  <a:schemeClr val="dk1"/>
                </a:solidFill>
                <a:latin typeface="Lato"/>
                <a:ea typeface="Lato"/>
                <a:cs typeface="Lato"/>
                <a:sym typeface="Lato"/>
              </a:rPr>
              <a:t>rule for predicting recession using the fear of unemployment series to predict recession. Rule shows a 10-point rise in the series compared to its previous 12 month low predicted the onset of the Great Recession in both the United States and Europe.</a:t>
            </a:r>
            <a:endParaRPr sz="1495">
              <a:solidFill>
                <a:schemeClr val="dk1"/>
              </a:solidFill>
              <a:latin typeface="Lato"/>
              <a:ea typeface="Lato"/>
              <a:cs typeface="Lato"/>
              <a:sym typeface="Lato"/>
            </a:endParaRPr>
          </a:p>
          <a:p>
            <a:pPr indent="0" lvl="0" marL="0" rtl="0" algn="l">
              <a:spcBef>
                <a:spcPts val="1200"/>
              </a:spcBef>
              <a:spcAft>
                <a:spcPts val="0"/>
              </a:spcAft>
              <a:buSzPts val="852"/>
              <a:buNone/>
            </a:pPr>
            <a:r>
              <a:rPr lang="en" sz="1495">
                <a:solidFill>
                  <a:schemeClr val="dk1"/>
                </a:solidFill>
                <a:latin typeface="Lato"/>
                <a:ea typeface="Lato"/>
                <a:cs typeface="Lato"/>
                <a:sym typeface="Lato"/>
              </a:rPr>
              <a:t>(The Economist 2024)</a:t>
            </a:r>
            <a:endParaRPr sz="1495">
              <a:solidFill>
                <a:schemeClr val="dk1"/>
              </a:solidFill>
              <a:latin typeface="Lato"/>
              <a:ea typeface="Lato"/>
              <a:cs typeface="Lato"/>
              <a:sym typeface="Lato"/>
            </a:endParaRPr>
          </a:p>
          <a:p>
            <a:pPr indent="-323532" lvl="0" marL="457200" rtl="0" algn="l">
              <a:spcBef>
                <a:spcPts val="1200"/>
              </a:spcBef>
              <a:spcAft>
                <a:spcPts val="0"/>
              </a:spcAft>
              <a:buClr>
                <a:schemeClr val="dk1"/>
              </a:buClr>
              <a:buSzPts val="1495"/>
              <a:buFont typeface="Lato"/>
              <a:buChar char="●"/>
            </a:pPr>
            <a:r>
              <a:rPr lang="en" sz="1495">
                <a:solidFill>
                  <a:schemeClr val="dk1"/>
                </a:solidFill>
                <a:latin typeface="Lato"/>
                <a:ea typeface="Lato"/>
                <a:cs typeface="Lato"/>
                <a:sym typeface="Lato"/>
              </a:rPr>
              <a:t>Argues that the Michez and Sahm Rules are not effective at predicting recessions in </a:t>
            </a:r>
            <a:r>
              <a:rPr lang="en" sz="1495">
                <a:solidFill>
                  <a:schemeClr val="dk1"/>
                </a:solidFill>
                <a:latin typeface="Lato"/>
                <a:ea typeface="Lato"/>
                <a:cs typeface="Lato"/>
                <a:sym typeface="Lato"/>
              </a:rPr>
              <a:t>other</a:t>
            </a:r>
            <a:r>
              <a:rPr lang="en" sz="1495">
                <a:solidFill>
                  <a:schemeClr val="dk1"/>
                </a:solidFill>
                <a:latin typeface="Lato"/>
                <a:ea typeface="Lato"/>
                <a:cs typeface="Lato"/>
                <a:sym typeface="Lato"/>
              </a:rPr>
              <a:t> countries</a:t>
            </a:r>
            <a:endParaRPr sz="1495">
              <a:solidFill>
                <a:schemeClr val="dk1"/>
              </a:solidFill>
              <a:latin typeface="Lato"/>
              <a:ea typeface="Lato"/>
              <a:cs typeface="Lato"/>
              <a:sym typeface="Lato"/>
            </a:endParaRPr>
          </a:p>
          <a:p>
            <a:pPr indent="0" lvl="0" marL="0" rtl="0" algn="l">
              <a:spcBef>
                <a:spcPts val="1200"/>
              </a:spcBef>
              <a:spcAft>
                <a:spcPts val="1200"/>
              </a:spcAft>
              <a:buSzPts val="852"/>
              <a:buNone/>
            </a:pPr>
            <a:r>
              <a:t/>
            </a:r>
            <a:endParaRPr sz="1495">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Methodology Review</a:t>
            </a:r>
            <a:endParaRPr>
              <a:latin typeface="Lato"/>
              <a:ea typeface="Lato"/>
              <a:cs typeface="Lato"/>
              <a:sym typeface="Lato"/>
            </a:endParaRPr>
          </a:p>
        </p:txBody>
      </p:sp>
      <p:sp>
        <p:nvSpPr>
          <p:cNvPr id="74" name="Google Shape;74;p16"/>
          <p:cNvSpPr txBox="1"/>
          <p:nvPr>
            <p:ph idx="1" type="body"/>
          </p:nvPr>
        </p:nvSpPr>
        <p:spPr>
          <a:xfrm>
            <a:off x="311700" y="1017725"/>
            <a:ext cx="8520600" cy="4038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Lato"/>
              <a:buChar char="●"/>
            </a:pPr>
            <a:r>
              <a:rPr lang="en" sz="1600">
                <a:solidFill>
                  <a:schemeClr val="dk1"/>
                </a:solidFill>
                <a:latin typeface="Lato"/>
                <a:ea typeface="Lato"/>
                <a:cs typeface="Lato"/>
                <a:sym typeface="Lato"/>
              </a:rPr>
              <a:t>Combined Unemployment and Vacancy rate data, recession data, and applied the Michez and Sahm Rules </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lang="en" sz="1600">
                <a:solidFill>
                  <a:schemeClr val="dk1"/>
                </a:solidFill>
                <a:latin typeface="Lato"/>
                <a:ea typeface="Lato"/>
                <a:cs typeface="Lato"/>
                <a:sym typeface="Lato"/>
              </a:rPr>
              <a:t>Graphed them all to see what thresholds need to be adjusted and if the new thresholds still work or if the </a:t>
            </a:r>
            <a:r>
              <a:rPr lang="en" sz="1600">
                <a:solidFill>
                  <a:schemeClr val="dk1"/>
                </a:solidFill>
                <a:latin typeface="Lato"/>
                <a:ea typeface="Lato"/>
                <a:cs typeface="Lato"/>
                <a:sym typeface="Lato"/>
              </a:rPr>
              <a:t>equations</a:t>
            </a:r>
            <a:r>
              <a:rPr lang="en" sz="1600">
                <a:solidFill>
                  <a:schemeClr val="dk1"/>
                </a:solidFill>
                <a:latin typeface="Lato"/>
                <a:ea typeface="Lato"/>
                <a:cs typeface="Lato"/>
                <a:sym typeface="Lato"/>
              </a:rPr>
              <a:t> would need redoing to be accurate</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lang="en" sz="1600">
                <a:solidFill>
                  <a:schemeClr val="dk1"/>
                </a:solidFill>
                <a:latin typeface="Lato"/>
                <a:ea typeface="Lato"/>
                <a:cs typeface="Lato"/>
                <a:sym typeface="Lato"/>
              </a:rPr>
              <a:t>Then Adjusted the Thresholds to make the predictions still accurate</a:t>
            </a:r>
            <a:endParaRPr sz="1600">
              <a:solidFill>
                <a:schemeClr val="dk1"/>
              </a:solidFill>
              <a:latin typeface="Lato"/>
              <a:ea typeface="Lato"/>
              <a:cs typeface="Lato"/>
              <a:sym typeface="Lato"/>
            </a:endParaRPr>
          </a:p>
          <a:p>
            <a:pPr indent="0" lvl="0" marL="457200" rtl="0" algn="l">
              <a:lnSpc>
                <a:spcPct val="95000"/>
              </a:lnSpc>
              <a:spcBef>
                <a:spcPts val="1200"/>
              </a:spcBef>
              <a:spcAft>
                <a:spcPts val="0"/>
              </a:spcAft>
              <a:buNone/>
            </a:pPr>
            <a:r>
              <a:rPr lang="en" sz="1600">
                <a:solidFill>
                  <a:schemeClr val="dk1"/>
                </a:solidFill>
                <a:latin typeface="Lato"/>
                <a:ea typeface="Lato"/>
                <a:cs typeface="Lato"/>
                <a:sym typeface="Lato"/>
              </a:rPr>
              <a:t>Sahm: the 3-month avg of unemployment minus its 12-month low</a:t>
            </a:r>
            <a:endParaRPr sz="1600">
              <a:solidFill>
                <a:schemeClr val="dk1"/>
              </a:solidFill>
              <a:latin typeface="Lato"/>
              <a:ea typeface="Lato"/>
              <a:cs typeface="Lato"/>
              <a:sym typeface="Lato"/>
            </a:endParaRPr>
          </a:p>
          <a:p>
            <a:pPr indent="0" lvl="0" marL="457200" rtl="0" algn="l">
              <a:lnSpc>
                <a:spcPct val="95000"/>
              </a:lnSpc>
              <a:spcBef>
                <a:spcPts val="1200"/>
              </a:spcBef>
              <a:spcAft>
                <a:spcPts val="0"/>
              </a:spcAft>
              <a:buNone/>
            </a:pPr>
            <a:r>
              <a:rPr lang="en" sz="1600">
                <a:solidFill>
                  <a:schemeClr val="dk1"/>
                </a:solidFill>
                <a:latin typeface="Lato"/>
                <a:ea typeface="Lato"/>
                <a:cs typeface="Lato"/>
                <a:sym typeface="Lato"/>
              </a:rPr>
              <a:t>Michez: the decline in the 3-month avg of the vacancy rate relative to its 12-month high. (Higher unemployment + lower vacancies) Take the minimum of the two indicators (i.e., the weaker of the two) to define the Michez indicator. This ensures the signal only triggers when both unemployment is rising and vacancies falling (simultaneous stress in labor market).</a:t>
            </a:r>
            <a:endParaRPr sz="1600">
              <a:solidFill>
                <a:schemeClr val="dk1"/>
              </a:solidFill>
              <a:latin typeface="Lato"/>
              <a:ea typeface="Lato"/>
              <a:cs typeface="Lato"/>
              <a:sym typeface="Lato"/>
            </a:endParaRPr>
          </a:p>
          <a:p>
            <a:pPr indent="0" lvl="0" marL="0" rtl="0" algn="l">
              <a:spcBef>
                <a:spcPts val="1200"/>
              </a:spcBef>
              <a:spcAft>
                <a:spcPts val="1200"/>
              </a:spcAft>
              <a:buNone/>
            </a:pPr>
            <a:r>
              <a:t/>
            </a:r>
            <a:endParaRPr sz="1500">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271863" y="125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Figures and Graphs: Graph 1(Germany)</a:t>
            </a:r>
            <a:endParaRPr>
              <a:latin typeface="Lato"/>
              <a:ea typeface="Lato"/>
              <a:cs typeface="Lato"/>
              <a:sym typeface="Lato"/>
            </a:endParaRPr>
          </a:p>
        </p:txBody>
      </p:sp>
      <p:pic>
        <p:nvPicPr>
          <p:cNvPr id="80" name="Google Shape;80;p17" title="6bc2f2d9-fead-475a-b7c7-46dd77e7ffa9.png"/>
          <p:cNvPicPr preferRelativeResize="0"/>
          <p:nvPr/>
        </p:nvPicPr>
        <p:blipFill>
          <a:blip r:embed="rId3">
            <a:alphaModFix/>
          </a:blip>
          <a:stretch>
            <a:fillRect/>
          </a:stretch>
        </p:blipFill>
        <p:spPr>
          <a:xfrm>
            <a:off x="271875" y="763800"/>
            <a:ext cx="8337623" cy="4132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273025" y="77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Lato"/>
                <a:ea typeface="Lato"/>
                <a:cs typeface="Lato"/>
                <a:sym typeface="Lato"/>
              </a:rPr>
              <a:t>Figures and Graphs: Graph 2 (Sweden)</a:t>
            </a:r>
            <a:endParaRPr>
              <a:latin typeface="Lato"/>
              <a:ea typeface="Lato"/>
              <a:cs typeface="Lato"/>
              <a:sym typeface="Lato"/>
            </a:endParaRPr>
          </a:p>
        </p:txBody>
      </p:sp>
      <p:pic>
        <p:nvPicPr>
          <p:cNvPr id="86" name="Google Shape;86;p18" title="fc69d12d-10d3-43fb-9c0d-5b816e387370.png"/>
          <p:cNvPicPr preferRelativeResize="0"/>
          <p:nvPr/>
        </p:nvPicPr>
        <p:blipFill>
          <a:blip r:embed="rId3">
            <a:alphaModFix/>
          </a:blip>
          <a:stretch>
            <a:fillRect/>
          </a:stretch>
        </p:blipFill>
        <p:spPr>
          <a:xfrm>
            <a:off x="609100" y="1095925"/>
            <a:ext cx="7424123" cy="3715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193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Lato"/>
                <a:ea typeface="Lato"/>
                <a:cs typeface="Lato"/>
                <a:sym typeface="Lato"/>
              </a:rPr>
              <a:t>Figures and Graphs: Graph 3 (Finland)</a:t>
            </a:r>
            <a:endParaRPr>
              <a:latin typeface="Lato"/>
              <a:ea typeface="Lato"/>
              <a:cs typeface="Lato"/>
              <a:sym typeface="Lato"/>
            </a:endParaRPr>
          </a:p>
        </p:txBody>
      </p:sp>
      <p:pic>
        <p:nvPicPr>
          <p:cNvPr id="92" name="Google Shape;92;p19" title="da8c6a86-dc8e-41da-9920-bcbb944ea04d.png"/>
          <p:cNvPicPr preferRelativeResize="0"/>
          <p:nvPr/>
        </p:nvPicPr>
        <p:blipFill>
          <a:blip r:embed="rId3">
            <a:alphaModFix/>
          </a:blip>
          <a:stretch>
            <a:fillRect/>
          </a:stretch>
        </p:blipFill>
        <p:spPr>
          <a:xfrm>
            <a:off x="511329" y="1017725"/>
            <a:ext cx="8121344" cy="4064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251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Lato"/>
                <a:ea typeface="Lato"/>
                <a:cs typeface="Lato"/>
                <a:sym typeface="Lato"/>
              </a:rPr>
              <a:t>Figures and Graphs: Graph 4 (France)</a:t>
            </a:r>
            <a:endParaRPr>
              <a:latin typeface="Lato"/>
              <a:ea typeface="Lato"/>
              <a:cs typeface="Lato"/>
              <a:sym typeface="Lato"/>
            </a:endParaRPr>
          </a:p>
        </p:txBody>
      </p:sp>
      <p:pic>
        <p:nvPicPr>
          <p:cNvPr id="98" name="Google Shape;98;p20" title="86ef5461-aa70-409b-a9c6-1692aec5c843.png"/>
          <p:cNvPicPr preferRelativeResize="0"/>
          <p:nvPr/>
        </p:nvPicPr>
        <p:blipFill>
          <a:blip r:embed="rId3">
            <a:alphaModFix/>
          </a:blip>
          <a:stretch>
            <a:fillRect/>
          </a:stretch>
        </p:blipFill>
        <p:spPr>
          <a:xfrm>
            <a:off x="311700" y="939851"/>
            <a:ext cx="8332923" cy="41298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Graph</a:t>
            </a:r>
            <a:r>
              <a:rPr lang="en">
                <a:latin typeface="Lato"/>
                <a:ea typeface="Lato"/>
                <a:cs typeface="Lato"/>
                <a:sym typeface="Lato"/>
              </a:rPr>
              <a:t> </a:t>
            </a:r>
            <a:endParaRPr>
              <a:latin typeface="Lato"/>
              <a:ea typeface="Lato"/>
              <a:cs typeface="Lato"/>
              <a:sym typeface="Lato"/>
            </a:endParaRPr>
          </a:p>
        </p:txBody>
      </p:sp>
      <p:sp>
        <p:nvSpPr>
          <p:cNvPr id="104" name="Google Shape;104;p21"/>
          <p:cNvSpPr txBox="1"/>
          <p:nvPr>
            <p:ph idx="1" type="body"/>
          </p:nvPr>
        </p:nvSpPr>
        <p:spPr>
          <a:xfrm>
            <a:off x="311700" y="1152475"/>
            <a:ext cx="8520600" cy="38169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Clr>
                <a:schemeClr val="dk1"/>
              </a:buClr>
              <a:buSzPct val="100000"/>
              <a:buFont typeface="Lato"/>
              <a:buChar char="●"/>
            </a:pPr>
            <a:r>
              <a:rPr lang="en">
                <a:solidFill>
                  <a:schemeClr val="dk1"/>
                </a:solidFill>
                <a:latin typeface="Lato"/>
                <a:ea typeface="Lato"/>
                <a:cs typeface="Lato"/>
                <a:sym typeface="Lato"/>
              </a:rPr>
              <a:t>Red sections are where the recession value indicator is 1, meaning that the country is in a recession. These are points of confirmed recession in these countries. </a:t>
            </a:r>
            <a:endParaRPr>
              <a:solidFill>
                <a:schemeClr val="dk1"/>
              </a:solidFill>
              <a:latin typeface="Lato"/>
              <a:ea typeface="Lato"/>
              <a:cs typeface="Lato"/>
              <a:sym typeface="Lato"/>
            </a:endParaRPr>
          </a:p>
          <a:p>
            <a:pPr indent="-325755" lvl="0" marL="457200" rtl="0" algn="l">
              <a:spcBef>
                <a:spcPts val="0"/>
              </a:spcBef>
              <a:spcAft>
                <a:spcPts val="0"/>
              </a:spcAft>
              <a:buClr>
                <a:schemeClr val="dk1"/>
              </a:buClr>
              <a:buSzPct val="100000"/>
              <a:buFont typeface="Lato"/>
              <a:buChar char="●"/>
            </a:pPr>
            <a:r>
              <a:rPr lang="en">
                <a:solidFill>
                  <a:schemeClr val="dk1"/>
                </a:solidFill>
                <a:latin typeface="Lato"/>
                <a:ea typeface="Lato"/>
                <a:cs typeface="Lato"/>
                <a:sym typeface="Lato"/>
              </a:rPr>
              <a:t>The orange line is the Sahm Rule which typically rests at zero unless the unemployment three month average moves 0.55 percentage points above the 12 month minimum. This is because unemployment rarely jumps sharply. </a:t>
            </a:r>
            <a:endParaRPr>
              <a:solidFill>
                <a:schemeClr val="dk1"/>
              </a:solidFill>
              <a:latin typeface="Lato"/>
              <a:ea typeface="Lato"/>
              <a:cs typeface="Lato"/>
              <a:sym typeface="Lato"/>
            </a:endParaRPr>
          </a:p>
          <a:p>
            <a:pPr indent="-325755" lvl="0" marL="457200" rtl="0" algn="l">
              <a:spcBef>
                <a:spcPts val="0"/>
              </a:spcBef>
              <a:spcAft>
                <a:spcPts val="0"/>
              </a:spcAft>
              <a:buClr>
                <a:schemeClr val="dk1"/>
              </a:buClr>
              <a:buSzPct val="100000"/>
              <a:buFont typeface="Lato"/>
              <a:buChar char="●"/>
            </a:pPr>
            <a:r>
              <a:rPr lang="en">
                <a:solidFill>
                  <a:schemeClr val="dk1"/>
                </a:solidFill>
                <a:latin typeface="Lato"/>
                <a:ea typeface="Lato"/>
                <a:cs typeface="Lato"/>
                <a:sym typeface="Lato"/>
              </a:rPr>
              <a:t>The blue line is the Michez rule that measures decline in job vacancies. We can see that in all four countries, the Michez rule is far more responsive, and there are large spikes in the indicator. This means a job vacancy collapse and per the graphs, we can see that these visibly lead recessions. This includes being accurate more quickly than the Sahm Rule usually indicating recession several months before the recession begins. For each country however, looking at the graphs you can see that they have different levels of volatility and reaction to Vacancy changes. Finland and Sweden have higher volatility showing that it takes much smaller spikes in the indicator to indicate recession as compared to France and Germany </a:t>
            </a:r>
            <a:endParaRPr>
              <a:solidFill>
                <a:schemeClr val="dk1"/>
              </a:solidFill>
              <a:latin typeface="Lato"/>
              <a:ea typeface="Lato"/>
              <a:cs typeface="Lato"/>
              <a:sym typeface="Lato"/>
            </a:endParaRPr>
          </a:p>
          <a:p>
            <a:pPr indent="0" lvl="0" marL="0" rtl="0" algn="l">
              <a:spcBef>
                <a:spcPts val="1200"/>
              </a:spcBef>
              <a:spcAft>
                <a:spcPts val="1200"/>
              </a:spcAft>
              <a:buNone/>
            </a:pPr>
            <a:r>
              <a:t/>
            </a:r>
            <a:endParaRPr>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Inconsistency</a:t>
            </a:r>
            <a:r>
              <a:rPr lang="en">
                <a:latin typeface="Lato"/>
                <a:ea typeface="Lato"/>
                <a:cs typeface="Lato"/>
                <a:sym typeface="Lato"/>
              </a:rPr>
              <a:t> in Results</a:t>
            </a:r>
            <a:endParaRPr>
              <a:latin typeface="Lato"/>
              <a:ea typeface="Lato"/>
              <a:cs typeface="Lato"/>
              <a:sym typeface="Lato"/>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ato"/>
              <a:buChar char="●"/>
            </a:pPr>
            <a:r>
              <a:rPr lang="en">
                <a:solidFill>
                  <a:schemeClr val="dk1"/>
                </a:solidFill>
                <a:highlight>
                  <a:schemeClr val="lt1"/>
                </a:highlight>
                <a:latin typeface="Lato"/>
                <a:ea typeface="Lato"/>
                <a:cs typeface="Lato"/>
                <a:sym typeface="Lato"/>
              </a:rPr>
              <a:t>Could not find downloadable data for vacancy rates so some of them are based on total job vacancies and some on new vacancies measure in persons not in percentages (France and Sweden based on new vacancies) (Germany and Finland Based on total job vacancies)</a:t>
            </a:r>
            <a:endParaRPr>
              <a:solidFill>
                <a:schemeClr val="dk1"/>
              </a:solidFill>
              <a:highlight>
                <a:schemeClr val="lt1"/>
              </a:highlight>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highlight>
                  <a:schemeClr val="lt1"/>
                </a:highlight>
                <a:latin typeface="Lato"/>
                <a:ea typeface="Lato"/>
                <a:cs typeface="Lato"/>
                <a:sym typeface="Lato"/>
              </a:rPr>
              <a:t>Could not find data for total labor force participation by </a:t>
            </a:r>
            <a:r>
              <a:rPr lang="en">
                <a:solidFill>
                  <a:schemeClr val="dk1"/>
                </a:solidFill>
                <a:highlight>
                  <a:schemeClr val="lt1"/>
                </a:highlight>
                <a:latin typeface="Lato"/>
                <a:ea typeface="Lato"/>
                <a:cs typeface="Lato"/>
                <a:sym typeface="Lato"/>
              </a:rPr>
              <a:t>people</a:t>
            </a:r>
            <a:r>
              <a:rPr lang="en">
                <a:solidFill>
                  <a:schemeClr val="dk1"/>
                </a:solidFill>
                <a:highlight>
                  <a:schemeClr val="lt1"/>
                </a:highlight>
                <a:latin typeface="Lato"/>
                <a:ea typeface="Lato"/>
                <a:cs typeface="Lato"/>
                <a:sym typeface="Lato"/>
              </a:rPr>
              <a:t> to do it myself</a:t>
            </a:r>
            <a:endParaRPr>
              <a:solidFill>
                <a:schemeClr val="dk1"/>
              </a:solidFill>
              <a:highlight>
                <a:schemeClr val="lt1"/>
              </a:highlight>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highlight>
                  <a:schemeClr val="lt1"/>
                </a:highlight>
                <a:latin typeface="Lato"/>
                <a:ea typeface="Lato"/>
                <a:cs typeface="Lato"/>
                <a:sym typeface="Lato"/>
              </a:rPr>
              <a:t>Used the same indicator base for recessions indications</a:t>
            </a:r>
            <a:endParaRPr>
              <a:solidFill>
                <a:schemeClr val="dk1"/>
              </a:solidFill>
              <a:highlight>
                <a:schemeClr val="lt1"/>
              </a:highlight>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highlight>
                  <a:schemeClr val="lt1"/>
                </a:highlight>
                <a:latin typeface="Lato"/>
                <a:ea typeface="Lato"/>
                <a:cs typeface="Lato"/>
                <a:sym typeface="Lato"/>
              </a:rPr>
              <a:t>Different countries had different years of data and did not always have large time blocks</a:t>
            </a:r>
            <a:endParaRPr>
              <a:solidFill>
                <a:schemeClr val="dk1"/>
              </a:solidFill>
              <a:highlight>
                <a:schemeClr val="lt1"/>
              </a:highlight>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highlight>
                  <a:schemeClr val="lt1"/>
                </a:highlight>
                <a:latin typeface="Lato"/>
                <a:ea typeface="Lato"/>
                <a:cs typeface="Lato"/>
                <a:sym typeface="Lato"/>
              </a:rPr>
              <a:t>Difficult to </a:t>
            </a:r>
            <a:r>
              <a:rPr lang="en">
                <a:solidFill>
                  <a:schemeClr val="dk1"/>
                </a:solidFill>
                <a:highlight>
                  <a:schemeClr val="lt1"/>
                </a:highlight>
                <a:latin typeface="Lato"/>
                <a:ea typeface="Lato"/>
                <a:cs typeface="Lato"/>
                <a:sym typeface="Lato"/>
              </a:rPr>
              <a:t>find</a:t>
            </a:r>
            <a:r>
              <a:rPr lang="en">
                <a:solidFill>
                  <a:schemeClr val="dk1"/>
                </a:solidFill>
                <a:highlight>
                  <a:schemeClr val="lt1"/>
                </a:highlight>
                <a:latin typeface="Lato"/>
                <a:ea typeface="Lato"/>
                <a:cs typeface="Lato"/>
                <a:sym typeface="Lato"/>
              </a:rPr>
              <a:t> Monthly Data </a:t>
            </a:r>
            <a:endParaRPr>
              <a:solidFill>
                <a:schemeClr val="dk1"/>
              </a:solidFill>
              <a:highlight>
                <a:schemeClr val="lt1"/>
              </a:highlight>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highlight>
                  <a:schemeClr val="lt1"/>
                </a:highlight>
                <a:latin typeface="Lato"/>
                <a:ea typeface="Lato"/>
                <a:cs typeface="Lato"/>
                <a:sym typeface="Lato"/>
              </a:rPr>
              <a:t>Potential User Error (First time doing a project like this)</a:t>
            </a:r>
            <a:endParaRPr>
              <a:solidFill>
                <a:schemeClr val="dk1"/>
              </a:solidFill>
              <a:highlight>
                <a:schemeClr val="lt1"/>
              </a:highlight>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Mathematical Equations and Adjusted Thresholds</a:t>
            </a:r>
            <a:endParaRPr>
              <a:latin typeface="Lato"/>
              <a:ea typeface="Lato"/>
              <a:cs typeface="Lato"/>
              <a:sym typeface="Lato"/>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Lato"/>
                <a:ea typeface="Lato"/>
                <a:cs typeface="Lato"/>
                <a:sym typeface="Lato"/>
              </a:rPr>
              <a:t>After gathering the data and computing the Michez Rule, I used another math equation to </a:t>
            </a:r>
            <a:r>
              <a:rPr lang="en">
                <a:solidFill>
                  <a:schemeClr val="dk1"/>
                </a:solidFill>
                <a:latin typeface="Lato"/>
                <a:ea typeface="Lato"/>
                <a:cs typeface="Lato"/>
                <a:sym typeface="Lato"/>
              </a:rPr>
              <a:t>find</a:t>
            </a:r>
            <a:r>
              <a:rPr lang="en">
                <a:solidFill>
                  <a:schemeClr val="dk1"/>
                </a:solidFill>
                <a:latin typeface="Lato"/>
                <a:ea typeface="Lato"/>
                <a:cs typeface="Lato"/>
                <a:sym typeface="Lato"/>
              </a:rPr>
              <a:t> the optimal thresholds for each country based on the data</a:t>
            </a:r>
            <a:endParaRPr>
              <a:solidFill>
                <a:schemeClr val="dk1"/>
              </a:solidFill>
              <a:latin typeface="Lato"/>
              <a:ea typeface="Lato"/>
              <a:cs typeface="Lato"/>
              <a:sym typeface="Lato"/>
            </a:endParaRPr>
          </a:p>
          <a:p>
            <a:pPr indent="-342900" lvl="0" marL="457200" rtl="0" algn="l">
              <a:spcBef>
                <a:spcPts val="1200"/>
              </a:spcBef>
              <a:spcAft>
                <a:spcPts val="0"/>
              </a:spcAft>
              <a:buClr>
                <a:schemeClr val="dk1"/>
              </a:buClr>
              <a:buSzPts val="1800"/>
              <a:buFont typeface="Lato"/>
              <a:buAutoNum type="arabicPeriod"/>
            </a:pPr>
            <a:r>
              <a:rPr lang="en">
                <a:solidFill>
                  <a:schemeClr val="dk1"/>
                </a:solidFill>
                <a:latin typeface="Lato"/>
                <a:ea typeface="Lato"/>
                <a:cs typeface="Lato"/>
                <a:sym typeface="Lato"/>
              </a:rPr>
              <a:t>Compute the Michez Value</a:t>
            </a:r>
            <a:endParaRPr>
              <a:solidFill>
                <a:schemeClr val="dk1"/>
              </a:solidFill>
              <a:latin typeface="Lato"/>
              <a:ea typeface="Lato"/>
              <a:cs typeface="Lato"/>
              <a:sym typeface="Lato"/>
            </a:endParaRPr>
          </a:p>
          <a:p>
            <a:pPr indent="-342900" lvl="0" marL="457200" rtl="0" algn="l">
              <a:spcBef>
                <a:spcPts val="0"/>
              </a:spcBef>
              <a:spcAft>
                <a:spcPts val="0"/>
              </a:spcAft>
              <a:buClr>
                <a:schemeClr val="dk1"/>
              </a:buClr>
              <a:buSzPts val="1800"/>
              <a:buAutoNum type="arabicPeriod"/>
            </a:pPr>
            <a:r>
              <a:rPr lang="en">
                <a:solidFill>
                  <a:schemeClr val="dk1"/>
                </a:solidFill>
                <a:latin typeface="Lato"/>
                <a:ea typeface="Lato"/>
                <a:cs typeface="Lato"/>
                <a:sym typeface="Lato"/>
              </a:rPr>
              <a:t>Use all of the values to test for the best Threshold </a:t>
            </a:r>
            <a:r>
              <a:rPr lang="en">
                <a:solidFill>
                  <a:schemeClr val="dk1"/>
                </a:solidFill>
                <a:latin typeface="Lato"/>
                <a:ea typeface="Lato"/>
                <a:cs typeface="Lato"/>
                <a:sym typeface="Lato"/>
              </a:rPr>
              <a:t>treating</a:t>
            </a:r>
            <a:r>
              <a:rPr lang="en">
                <a:solidFill>
                  <a:schemeClr val="dk1"/>
                </a:solidFill>
                <a:latin typeface="Lato"/>
                <a:ea typeface="Lato"/>
                <a:cs typeface="Lato"/>
                <a:sym typeface="Lato"/>
              </a:rPr>
              <a:t> every </a:t>
            </a:r>
            <a:r>
              <a:rPr lang="en">
                <a:solidFill>
                  <a:schemeClr val="dk1"/>
                </a:solidFill>
                <a:latin typeface="Lato"/>
                <a:ea typeface="Lato"/>
                <a:cs typeface="Lato"/>
                <a:sym typeface="Lato"/>
              </a:rPr>
              <a:t>value</a:t>
            </a:r>
            <a:r>
              <a:rPr lang="en">
                <a:solidFill>
                  <a:schemeClr val="dk1"/>
                </a:solidFill>
                <a:latin typeface="Lato"/>
                <a:ea typeface="Lato"/>
                <a:cs typeface="Lato"/>
                <a:sym typeface="Lato"/>
              </a:rPr>
              <a:t> as a potential new threshold Ƭ ∈ {All Michez Values in the Data}</a:t>
            </a:r>
            <a:endParaRPr>
              <a:solidFill>
                <a:schemeClr val="dk1"/>
              </a:solidFill>
              <a:latin typeface="Lato"/>
              <a:ea typeface="Lato"/>
              <a:cs typeface="Lato"/>
              <a:sym typeface="Lato"/>
            </a:endParaRPr>
          </a:p>
          <a:p>
            <a:pPr indent="-342900" lvl="0" marL="457200" rtl="0" algn="l">
              <a:spcBef>
                <a:spcPts val="0"/>
              </a:spcBef>
              <a:spcAft>
                <a:spcPts val="0"/>
              </a:spcAft>
              <a:buClr>
                <a:schemeClr val="dk1"/>
              </a:buClr>
              <a:buSzPts val="1800"/>
              <a:buFont typeface="Lato"/>
              <a:buAutoNum type="arabicPeriod"/>
            </a:pPr>
            <a:r>
              <a:rPr lang="en">
                <a:solidFill>
                  <a:schemeClr val="dk1"/>
                </a:solidFill>
                <a:latin typeface="Lato"/>
                <a:ea typeface="Lato"/>
                <a:cs typeface="Lato"/>
                <a:sym typeface="Lato"/>
              </a:rPr>
              <a:t>Make the predictions using the recession dummy variable of 1 or 0 to measure how effective the t value is, then evaluate using the F1 score</a:t>
            </a:r>
            <a:endParaRPr>
              <a:solidFill>
                <a:schemeClr val="dk1"/>
              </a:solidFill>
              <a:latin typeface="Lato"/>
              <a:ea typeface="Lato"/>
              <a:cs typeface="Lato"/>
              <a:sym typeface="Lato"/>
            </a:endParaRPr>
          </a:p>
        </p:txBody>
      </p:sp>
      <p:pic>
        <p:nvPicPr>
          <p:cNvPr id="117" name="Google Shape;117;p23" title="Screenshot 2025-12-03 093642.png"/>
          <p:cNvPicPr preferRelativeResize="0"/>
          <p:nvPr/>
        </p:nvPicPr>
        <p:blipFill>
          <a:blip r:embed="rId3">
            <a:alphaModFix/>
          </a:blip>
          <a:stretch>
            <a:fillRect/>
          </a:stretch>
        </p:blipFill>
        <p:spPr>
          <a:xfrm>
            <a:off x="842513" y="3749650"/>
            <a:ext cx="2257425" cy="1066800"/>
          </a:xfrm>
          <a:prstGeom prst="rect">
            <a:avLst/>
          </a:prstGeom>
          <a:noFill/>
          <a:ln>
            <a:noFill/>
          </a:ln>
        </p:spPr>
      </p:pic>
      <p:sp>
        <p:nvSpPr>
          <p:cNvPr id="118" name="Google Shape;118;p23"/>
          <p:cNvSpPr txBox="1"/>
          <p:nvPr/>
        </p:nvSpPr>
        <p:spPr>
          <a:xfrm>
            <a:off x="3099950" y="4176675"/>
            <a:ext cx="59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Lato"/>
                <a:ea typeface="Lato"/>
                <a:cs typeface="Lato"/>
                <a:sym typeface="Lato"/>
              </a:rPr>
              <a:t>F1=</a:t>
            </a:r>
            <a:endParaRPr sz="1800">
              <a:solidFill>
                <a:schemeClr val="dk1"/>
              </a:solidFill>
              <a:latin typeface="Lato"/>
              <a:ea typeface="Lato"/>
              <a:cs typeface="Lato"/>
              <a:sym typeface="Lato"/>
            </a:endParaRPr>
          </a:p>
        </p:txBody>
      </p:sp>
      <p:sp>
        <p:nvSpPr>
          <p:cNvPr id="119" name="Google Shape;119;p23"/>
          <p:cNvSpPr txBox="1"/>
          <p:nvPr/>
        </p:nvSpPr>
        <p:spPr>
          <a:xfrm>
            <a:off x="3519200" y="4176675"/>
            <a:ext cx="50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Lato"/>
                <a:ea typeface="Lato"/>
                <a:cs typeface="Lato"/>
                <a:sym typeface="Lato"/>
              </a:rPr>
              <a:t>2*</a:t>
            </a:r>
            <a:endParaRPr sz="1800">
              <a:solidFill>
                <a:schemeClr val="dk1"/>
              </a:solidFill>
              <a:latin typeface="Lato"/>
              <a:ea typeface="Lato"/>
              <a:cs typeface="Lato"/>
              <a:sym typeface="Lato"/>
            </a:endParaRPr>
          </a:p>
        </p:txBody>
      </p:sp>
      <p:sp>
        <p:nvSpPr>
          <p:cNvPr id="120" name="Google Shape;120;p23"/>
          <p:cNvSpPr txBox="1"/>
          <p:nvPr/>
        </p:nvSpPr>
        <p:spPr>
          <a:xfrm>
            <a:off x="3809325" y="3929050"/>
            <a:ext cx="5269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Lato"/>
                <a:ea typeface="Lato"/>
                <a:cs typeface="Lato"/>
                <a:sym typeface="Lato"/>
              </a:rPr>
              <a:t>(how many predictions were correct)*(how many recessions the indicator caught)</a:t>
            </a:r>
            <a:endParaRPr sz="1100">
              <a:solidFill>
                <a:schemeClr val="dk1"/>
              </a:solidFill>
              <a:latin typeface="Lato"/>
              <a:ea typeface="Lato"/>
              <a:cs typeface="Lato"/>
              <a:sym typeface="Lato"/>
            </a:endParaRPr>
          </a:p>
        </p:txBody>
      </p:sp>
      <p:cxnSp>
        <p:nvCxnSpPr>
          <p:cNvPr id="121" name="Google Shape;121;p23"/>
          <p:cNvCxnSpPr/>
          <p:nvPr/>
        </p:nvCxnSpPr>
        <p:spPr>
          <a:xfrm>
            <a:off x="4070350" y="4283050"/>
            <a:ext cx="4882500" cy="0"/>
          </a:xfrm>
          <a:prstGeom prst="straightConnector1">
            <a:avLst/>
          </a:prstGeom>
          <a:noFill/>
          <a:ln cap="flat" cmpd="sng" w="19050">
            <a:solidFill>
              <a:schemeClr val="dk1"/>
            </a:solidFill>
            <a:prstDash val="solid"/>
            <a:round/>
            <a:headEnd len="med" w="med" type="none"/>
            <a:tailEnd len="med" w="med" type="none"/>
          </a:ln>
        </p:spPr>
      </p:cxnSp>
      <p:sp>
        <p:nvSpPr>
          <p:cNvPr id="122" name="Google Shape;122;p23"/>
          <p:cNvSpPr txBox="1"/>
          <p:nvPr/>
        </p:nvSpPr>
        <p:spPr>
          <a:xfrm>
            <a:off x="3809325" y="4283050"/>
            <a:ext cx="5269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Lato"/>
                <a:ea typeface="Lato"/>
                <a:cs typeface="Lato"/>
                <a:sym typeface="Lato"/>
              </a:rPr>
              <a:t>(how many predictions were correct)+(how many recessions the indicator caught)</a:t>
            </a:r>
            <a:endParaRPr sz="1800">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Conclusion</a:t>
            </a:r>
            <a:endParaRPr>
              <a:latin typeface="Lato"/>
              <a:ea typeface="Lato"/>
              <a:cs typeface="Lato"/>
              <a:sym typeface="Lato"/>
            </a:endParaRPr>
          </a:p>
        </p:txBody>
      </p:sp>
      <p:sp>
        <p:nvSpPr>
          <p:cNvPr id="128" name="Google Shape;128;p24"/>
          <p:cNvSpPr txBox="1"/>
          <p:nvPr>
            <p:ph idx="1" type="body"/>
          </p:nvPr>
        </p:nvSpPr>
        <p:spPr>
          <a:xfrm>
            <a:off x="311700" y="1152475"/>
            <a:ext cx="8520600" cy="3913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Each country has different social structures, labor markets, and recession patterns. So it is important to adapt our equations and thresholds to </a:t>
            </a:r>
            <a:r>
              <a:rPr lang="en">
                <a:solidFill>
                  <a:schemeClr val="dk1"/>
                </a:solidFill>
                <a:latin typeface="Lato"/>
                <a:ea typeface="Lato"/>
                <a:cs typeface="Lato"/>
                <a:sym typeface="Lato"/>
              </a:rPr>
              <a:t>accommodate</a:t>
            </a:r>
            <a:r>
              <a:rPr lang="en">
                <a:solidFill>
                  <a:schemeClr val="dk1"/>
                </a:solidFill>
                <a:latin typeface="Lato"/>
                <a:ea typeface="Lato"/>
                <a:cs typeface="Lato"/>
                <a:sym typeface="Lato"/>
              </a:rPr>
              <a:t> these unique situations and provide more </a:t>
            </a:r>
            <a:r>
              <a:rPr lang="en">
                <a:solidFill>
                  <a:schemeClr val="dk1"/>
                </a:solidFill>
                <a:latin typeface="Lato"/>
                <a:ea typeface="Lato"/>
                <a:cs typeface="Lato"/>
                <a:sym typeface="Lato"/>
              </a:rPr>
              <a:t>accurate</a:t>
            </a:r>
            <a:r>
              <a:rPr lang="en">
                <a:solidFill>
                  <a:schemeClr val="dk1"/>
                </a:solidFill>
                <a:latin typeface="Lato"/>
                <a:ea typeface="Lato"/>
                <a:cs typeface="Lato"/>
                <a:sym typeface="Lato"/>
              </a:rPr>
              <a:t> and faster signaling recession predictors. </a:t>
            </a:r>
            <a:endParaRPr>
              <a:solidFill>
                <a:schemeClr val="dk1"/>
              </a:solidFill>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Adjusting the thresholds for these countries make them more effective and accurate </a:t>
            </a:r>
            <a:endParaRPr>
              <a:solidFill>
                <a:schemeClr val="dk1"/>
              </a:solidFill>
              <a:latin typeface="Lato"/>
              <a:ea typeface="Lato"/>
              <a:cs typeface="Lato"/>
              <a:sym typeface="Lato"/>
            </a:endParaRPr>
          </a:p>
          <a:p>
            <a:pPr indent="-342900" lvl="0" marL="457200" rtl="0" algn="l">
              <a:spcBef>
                <a:spcPts val="0"/>
              </a:spcBef>
              <a:spcAft>
                <a:spcPts val="0"/>
              </a:spcAft>
              <a:buClr>
                <a:schemeClr val="dk1"/>
              </a:buClr>
              <a:buSzPts val="1800"/>
              <a:buFont typeface="Lato"/>
              <a:buChar char="●"/>
            </a:pPr>
            <a:r>
              <a:rPr lang="en">
                <a:solidFill>
                  <a:schemeClr val="dk1"/>
                </a:solidFill>
                <a:latin typeface="Lato"/>
                <a:ea typeface="Lato"/>
                <a:cs typeface="Lato"/>
                <a:sym typeface="Lato"/>
              </a:rPr>
              <a:t>In this essay I have come to the </a:t>
            </a:r>
            <a:r>
              <a:rPr lang="en">
                <a:solidFill>
                  <a:schemeClr val="dk1"/>
                </a:solidFill>
                <a:latin typeface="Lato"/>
                <a:ea typeface="Lato"/>
                <a:cs typeface="Lato"/>
                <a:sym typeface="Lato"/>
              </a:rPr>
              <a:t>conclusion</a:t>
            </a:r>
            <a:r>
              <a:rPr lang="en">
                <a:solidFill>
                  <a:schemeClr val="dk1"/>
                </a:solidFill>
                <a:latin typeface="Lato"/>
                <a:ea typeface="Lato"/>
                <a:cs typeface="Lato"/>
                <a:sym typeface="Lato"/>
              </a:rPr>
              <a:t> that the Michez Rule is effective for predicting recessions in other countries when adjusted to reflect past patterns of labor markets and recessions</a:t>
            </a:r>
            <a:endParaRPr>
              <a:solidFill>
                <a:schemeClr val="dk1"/>
              </a:solidFill>
              <a:latin typeface="Lato"/>
              <a:ea typeface="Lato"/>
              <a:cs typeface="Lato"/>
              <a:sym typeface="Lato"/>
            </a:endParaRPr>
          </a:p>
          <a:p>
            <a:pPr indent="0" lvl="0" marL="0" rtl="0" algn="l">
              <a:spcBef>
                <a:spcPts val="1200"/>
              </a:spcBef>
              <a:spcAft>
                <a:spcPts val="0"/>
              </a:spcAft>
              <a:buNone/>
            </a:pPr>
            <a:r>
              <a:t/>
            </a:r>
            <a:endParaRPr>
              <a:solidFill>
                <a:schemeClr val="dk1"/>
              </a:solidFill>
              <a:latin typeface="Lato"/>
              <a:ea typeface="Lato"/>
              <a:cs typeface="Lato"/>
              <a:sym typeface="Lato"/>
            </a:endParaRPr>
          </a:p>
          <a:p>
            <a:pPr indent="0" lvl="0" marL="457200" rtl="0" algn="l">
              <a:spcBef>
                <a:spcPts val="1200"/>
              </a:spcBef>
              <a:spcAft>
                <a:spcPts val="1200"/>
              </a:spcAft>
              <a:buNone/>
            </a:pPr>
            <a:r>
              <a:t/>
            </a:r>
            <a:endParaRPr>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